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5" d="100"/>
          <a:sy n="125" d="100"/>
        </p:scale>
        <p:origin x="2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4651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at an easy pace. Brief pause after the title.
Moving from chatbots to agents that retrieve evidence, call tools, transform data, produce conclusions. Walk the chain along the bottom. Then: the reviewability of agent-assisted work is an engineering property — decided when the system is built, not when someone opens the workpaper. Flag up front that this is an active research area, not something I invented.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pause.
Most systems already have tracing. Useful operationally, but dependency questions stay unanswered.
Be fair to logs and traces: they CAN encode dependencies. The point is an ordinary chronological log does not do it automatically, and most of ours do not.
Land the distinction clearly — read the bar out loud.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node types, then the converging diagram — the convergence is the point.
Brief pause before granularity.
CUT CANDIDATE if held to 10 minutes: the granularity paragraph.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Slight emphasis on the closing principle.
Source node on entry → observation gets parent IDs → tool-call node records the four relations → claim records parent evidence and actions → final report references a slice of the graph.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Walk both traversals on screen — this is the moment the idea lands. Do not cut.
Invoice page 2 → extracted $12,480. Separately, the PO row from master data. The comparison rule has TWO parents and records its own version plus exact input node IDs. Anomaly flag → audit finding → reviewer disposition as its own node, not a comment somewhere.
Pause before the key query, then walk forward impact, then backward lineage.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modest, not salesy.
Be careful with the word re-performance. Be careful not to overclaim on AS 1105.
AS 1215 14-day window is ALREADY IN FORCE — not upcoming.
Close with: I am deliberately not going to tell you how any of our own platforms are built. Several of you know that better than I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CANDIDATE if held to 10 minutes: the architecture detail (the four layers). Keep the trust boundary.
Raw evidence references must be distinguishable from model-generated claims. Audit questions go in both directions, so both traversals must be fast.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slightly for the close. DO NOT SKIP the honest caveat.
Final line: the interesting question is not only “Can the agent do the work?” but also “Can another person inspect exactly how it got there?”
Then open it up. Presenter brief section 11 has prepared answers for the common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leave up during Q&amp;A.
ISA 500 and ISA 230 are the equivalents outside PCAOB scope. Full source list with URLs is in the presenter brief, section 14.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a:effectLst/>
      </p:bgPr>
    </p:bg>
    <p:spTree>
      <p:nvGrpSpPr>
        <p:cNvPr id="1" name=""/>
        <p:cNvGrpSpPr/>
        <p:nvPr/>
      </p:nvGrpSpPr>
      <p:grpSpPr>
        <a:xfrm>
          <a:off x="0" y="0"/>
          <a:ext cx="0" cy="0"/>
          <a:chOff x="0" y="0"/>
          <a:chExt cx="0" cy="0"/>
        </a:xfrm>
      </p:grpSpPr>
      <p:sp>
        <p:nvSpPr>
          <p:cNvPr id="2" name="Text 0"/>
          <p:cNvSpPr/>
          <p:nvPr/>
        </p:nvSpPr>
        <p:spPr>
          <a:xfrm>
            <a:off x="685800" y="777240"/>
            <a:ext cx="7315200" cy="274320"/>
          </a:xfrm>
          <a:prstGeom prst="rect">
            <a:avLst/>
          </a:prstGeom>
          <a:noFill/>
          <a:ln/>
        </p:spPr>
        <p:txBody>
          <a:bodyPr wrap="square" lIns="0" tIns="0" rIns="0" bIns="0" rtlCol="0" anchor="ctr"/>
          <a:lstStyle/>
          <a:p>
            <a:pPr marL="0" indent="0">
              <a:buNone/>
            </a:pPr>
            <a:r>
              <a:rPr lang="en-US" sz="1200" b="1" kern="0" spc="200" dirty="0">
                <a:solidFill>
                  <a:srgbClr val="8FB4CC"/>
                </a:solidFill>
                <a:latin typeface="Calibri" pitchFamily="34" charset="0"/>
                <a:ea typeface="Calibri" pitchFamily="34" charset="-122"/>
                <a:cs typeface="Calibri" pitchFamily="34" charset="-120"/>
              </a:rPr>
              <a:t>WEEKLY AI SKILLS SHARING</a:t>
            </a:r>
            <a:endParaRPr lang="en-US" sz="1200" dirty="0"/>
          </a:p>
        </p:txBody>
      </p:sp>
      <p:sp>
        <p:nvSpPr>
          <p:cNvPr id="3" name="Text 1"/>
          <p:cNvSpPr/>
          <p:nvPr/>
        </p:nvSpPr>
        <p:spPr>
          <a:xfrm>
            <a:off x="640080" y="1188720"/>
            <a:ext cx="7863840" cy="1737360"/>
          </a:xfrm>
          <a:prstGeom prst="rect">
            <a:avLst/>
          </a:prstGeom>
          <a:noFill/>
          <a:ln/>
        </p:spPr>
        <p:txBody>
          <a:bodyPr wrap="square" lIns="0" tIns="0" rIns="0" bIns="0" rtlCol="0" anchor="ctr"/>
          <a:lstStyle/>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Execution provenance</a:t>
            </a:r>
            <a:endParaRPr lang="en-US" sz="4200" dirty="0"/>
          </a:p>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graphs for AI agents</a:t>
            </a:r>
            <a:endParaRPr lang="en-US" sz="4200" dirty="0"/>
          </a:p>
        </p:txBody>
      </p:sp>
      <p:sp>
        <p:nvSpPr>
          <p:cNvPr id="4" name="Text 2"/>
          <p:cNvSpPr/>
          <p:nvPr/>
        </p:nvSpPr>
        <p:spPr>
          <a:xfrm>
            <a:off x="685800" y="3200400"/>
            <a:ext cx="7498080" cy="5486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Not a flat log of what an agent did — a structured graph of what each output depended on.</a:t>
            </a:r>
            <a:endParaRPr lang="en-US" sz="1500" dirty="0"/>
          </a:p>
        </p:txBody>
      </p:sp>
      <p:sp>
        <p:nvSpPr>
          <p:cNvPr id="5" name="Shape 3"/>
          <p:cNvSpPr/>
          <p:nvPr/>
        </p:nvSpPr>
        <p:spPr>
          <a:xfrm>
            <a:off x="685800" y="4526280"/>
            <a:ext cx="1993392" cy="566928"/>
          </a:xfrm>
          <a:prstGeom prst="roundRect">
            <a:avLst>
              <a:gd name="adj" fmla="val 12903"/>
            </a:avLst>
          </a:prstGeom>
          <a:solidFill>
            <a:srgbClr val="24486A"/>
          </a:solidFill>
          <a:ln w="12700">
            <a:solidFill>
              <a:srgbClr val="3C6488"/>
            </a:solidFill>
            <a:prstDash val="solid"/>
          </a:ln>
        </p:spPr>
      </p:sp>
      <p:sp>
        <p:nvSpPr>
          <p:cNvPr id="6" name="Text 4"/>
          <p:cNvSpPr/>
          <p:nvPr/>
        </p:nvSpPr>
        <p:spPr>
          <a:xfrm>
            <a:off x="758952" y="4526280"/>
            <a:ext cx="1847088"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Invoice file</a:t>
            </a:r>
            <a:endParaRPr lang="en-US" sz="1050" dirty="0"/>
          </a:p>
        </p:txBody>
      </p:sp>
      <p:sp>
        <p:nvSpPr>
          <p:cNvPr id="7" name="Shape 5"/>
          <p:cNvSpPr/>
          <p:nvPr/>
        </p:nvSpPr>
        <p:spPr>
          <a:xfrm>
            <a:off x="2724912" y="4809744"/>
            <a:ext cx="201168" cy="0"/>
          </a:xfrm>
          <a:prstGeom prst="line">
            <a:avLst/>
          </a:prstGeom>
          <a:noFill/>
          <a:ln w="19050">
            <a:solidFill>
              <a:srgbClr val="7FA3BF"/>
            </a:solidFill>
            <a:prstDash val="solid"/>
            <a:headEnd type="none"/>
            <a:tailEnd type="triangle"/>
          </a:ln>
        </p:spPr>
      </p:sp>
      <p:sp>
        <p:nvSpPr>
          <p:cNvPr id="8" name="Shape 6"/>
          <p:cNvSpPr/>
          <p:nvPr/>
        </p:nvSpPr>
        <p:spPr>
          <a:xfrm>
            <a:off x="2971800" y="4526280"/>
            <a:ext cx="1993392" cy="566928"/>
          </a:xfrm>
          <a:prstGeom prst="roundRect">
            <a:avLst>
              <a:gd name="adj" fmla="val 12903"/>
            </a:avLst>
          </a:prstGeom>
          <a:solidFill>
            <a:srgbClr val="24486A"/>
          </a:solidFill>
          <a:ln w="12700">
            <a:solidFill>
              <a:srgbClr val="3C6488"/>
            </a:solidFill>
            <a:prstDash val="solid"/>
          </a:ln>
        </p:spPr>
      </p:sp>
      <p:sp>
        <p:nvSpPr>
          <p:cNvPr id="9" name="Text 7"/>
          <p:cNvSpPr/>
          <p:nvPr/>
        </p:nvSpPr>
        <p:spPr>
          <a:xfrm>
            <a:off x="3044952" y="4526280"/>
            <a:ext cx="1847088"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Extracted amount</a:t>
            </a:r>
            <a:endParaRPr lang="en-US" sz="1050" dirty="0"/>
          </a:p>
        </p:txBody>
      </p:sp>
      <p:sp>
        <p:nvSpPr>
          <p:cNvPr id="10" name="Shape 8"/>
          <p:cNvSpPr/>
          <p:nvPr/>
        </p:nvSpPr>
        <p:spPr>
          <a:xfrm>
            <a:off x="5010912" y="4809744"/>
            <a:ext cx="201168" cy="0"/>
          </a:xfrm>
          <a:prstGeom prst="line">
            <a:avLst/>
          </a:prstGeom>
          <a:noFill/>
          <a:ln w="19050">
            <a:solidFill>
              <a:srgbClr val="7FA3BF"/>
            </a:solidFill>
            <a:prstDash val="solid"/>
            <a:headEnd type="none"/>
            <a:tailEnd type="triangle"/>
          </a:ln>
        </p:spPr>
      </p:sp>
      <p:sp>
        <p:nvSpPr>
          <p:cNvPr id="11" name="Shape 9"/>
          <p:cNvSpPr/>
          <p:nvPr/>
        </p:nvSpPr>
        <p:spPr>
          <a:xfrm>
            <a:off x="5257800" y="4526280"/>
            <a:ext cx="1993392" cy="566928"/>
          </a:xfrm>
          <a:prstGeom prst="roundRect">
            <a:avLst>
              <a:gd name="adj" fmla="val 12903"/>
            </a:avLst>
          </a:prstGeom>
          <a:solidFill>
            <a:srgbClr val="24486A"/>
          </a:solidFill>
          <a:ln w="12700">
            <a:solidFill>
              <a:srgbClr val="3C6488"/>
            </a:solidFill>
            <a:prstDash val="solid"/>
          </a:ln>
        </p:spPr>
      </p:sp>
      <p:sp>
        <p:nvSpPr>
          <p:cNvPr id="12" name="Text 10"/>
          <p:cNvSpPr/>
          <p:nvPr/>
        </p:nvSpPr>
        <p:spPr>
          <a:xfrm>
            <a:off x="5330952" y="4526280"/>
            <a:ext cx="1847088"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Comparison rule</a:t>
            </a:r>
            <a:endParaRPr lang="en-US" sz="1050" dirty="0"/>
          </a:p>
        </p:txBody>
      </p:sp>
      <p:sp>
        <p:nvSpPr>
          <p:cNvPr id="13" name="Shape 11"/>
          <p:cNvSpPr/>
          <p:nvPr/>
        </p:nvSpPr>
        <p:spPr>
          <a:xfrm>
            <a:off x="7296912" y="4809744"/>
            <a:ext cx="201168" cy="0"/>
          </a:xfrm>
          <a:prstGeom prst="line">
            <a:avLst/>
          </a:prstGeom>
          <a:noFill/>
          <a:ln w="19050">
            <a:solidFill>
              <a:srgbClr val="7FA3BF"/>
            </a:solidFill>
            <a:prstDash val="solid"/>
            <a:headEnd type="none"/>
            <a:tailEnd type="triangle"/>
          </a:ln>
        </p:spPr>
      </p:sp>
      <p:sp>
        <p:nvSpPr>
          <p:cNvPr id="14" name="Shape 12"/>
          <p:cNvSpPr/>
          <p:nvPr/>
        </p:nvSpPr>
        <p:spPr>
          <a:xfrm>
            <a:off x="7543800" y="4526280"/>
            <a:ext cx="1993392" cy="566928"/>
          </a:xfrm>
          <a:prstGeom prst="roundRect">
            <a:avLst>
              <a:gd name="adj" fmla="val 12903"/>
            </a:avLst>
          </a:prstGeom>
          <a:solidFill>
            <a:srgbClr val="24486A"/>
          </a:solidFill>
          <a:ln w="12700">
            <a:solidFill>
              <a:srgbClr val="3C6488"/>
            </a:solidFill>
            <a:prstDash val="solid"/>
          </a:ln>
        </p:spPr>
      </p:sp>
      <p:sp>
        <p:nvSpPr>
          <p:cNvPr id="15" name="Text 13"/>
          <p:cNvSpPr/>
          <p:nvPr/>
        </p:nvSpPr>
        <p:spPr>
          <a:xfrm>
            <a:off x="7616952" y="4526280"/>
            <a:ext cx="1847088"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Anomaly flag</a:t>
            </a:r>
            <a:endParaRPr lang="en-US" sz="1050" dirty="0"/>
          </a:p>
        </p:txBody>
      </p:sp>
      <p:sp>
        <p:nvSpPr>
          <p:cNvPr id="16" name="Shape 14"/>
          <p:cNvSpPr/>
          <p:nvPr/>
        </p:nvSpPr>
        <p:spPr>
          <a:xfrm>
            <a:off x="9582912" y="4809744"/>
            <a:ext cx="201168" cy="0"/>
          </a:xfrm>
          <a:prstGeom prst="line">
            <a:avLst/>
          </a:prstGeom>
          <a:noFill/>
          <a:ln w="19050">
            <a:solidFill>
              <a:srgbClr val="7FA3BF"/>
            </a:solidFill>
            <a:prstDash val="solid"/>
            <a:headEnd type="none"/>
            <a:tailEnd type="triangle"/>
          </a:ln>
        </p:spPr>
      </p:sp>
      <p:sp>
        <p:nvSpPr>
          <p:cNvPr id="17" name="Shape 15"/>
          <p:cNvSpPr/>
          <p:nvPr/>
        </p:nvSpPr>
        <p:spPr>
          <a:xfrm>
            <a:off x="9829800" y="4526280"/>
            <a:ext cx="1993392" cy="566928"/>
          </a:xfrm>
          <a:prstGeom prst="roundRect">
            <a:avLst>
              <a:gd name="adj" fmla="val 12903"/>
            </a:avLst>
          </a:prstGeom>
          <a:solidFill>
            <a:srgbClr val="C2700A"/>
          </a:solidFill>
          <a:ln w="12700">
            <a:solidFill>
              <a:srgbClr val="C2700A"/>
            </a:solidFill>
            <a:prstDash val="solid"/>
          </a:ln>
        </p:spPr>
      </p:sp>
      <p:sp>
        <p:nvSpPr>
          <p:cNvPr id="18" name="Text 16"/>
          <p:cNvSpPr/>
          <p:nvPr/>
        </p:nvSpPr>
        <p:spPr>
          <a:xfrm>
            <a:off x="9902952" y="4526280"/>
            <a:ext cx="1847088" cy="5669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Audit finding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marL="0" indent="0">
              <a:buNone/>
            </a:pPr>
            <a:r>
              <a:rPr lang="en-US" sz="1100" b="1" kern="0" spc="160" dirty="0">
                <a:solidFill>
                  <a:srgbClr val="C2700A"/>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58368"/>
            <a:ext cx="1060704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Why flat logs are not enough</a:t>
            </a:r>
            <a:endParaRPr lang="en-US" sz="3200" dirty="0"/>
          </a:p>
        </p:txBody>
      </p:sp>
      <p:sp>
        <p:nvSpPr>
          <p:cNvPr id="4" name="Shape 2"/>
          <p:cNvSpPr/>
          <p:nvPr/>
        </p:nvSpPr>
        <p:spPr>
          <a:xfrm>
            <a:off x="548640" y="1600200"/>
            <a:ext cx="5349240" cy="3383280"/>
          </a:xfrm>
          <a:prstGeom prst="roundRect">
            <a:avLst>
              <a:gd name="adj" fmla="val 1622"/>
            </a:avLst>
          </a:prstGeom>
          <a:solidFill>
            <a:srgbClr val="F7F9FA"/>
          </a:solidFill>
          <a:ln w="12700">
            <a:solidFill>
              <a:srgbClr val="C3D2DC"/>
            </a:solidFill>
            <a:prstDash val="solid"/>
          </a:ln>
        </p:spPr>
      </p:sp>
      <p:sp>
        <p:nvSpPr>
          <p:cNvPr id="5" name="Text 3"/>
          <p:cNvSpPr/>
          <p:nvPr/>
        </p:nvSpPr>
        <p:spPr>
          <a:xfrm>
            <a:off x="777240" y="1783080"/>
            <a:ext cx="4846320" cy="237744"/>
          </a:xfrm>
          <a:prstGeom prst="rect">
            <a:avLst/>
          </a:prstGeom>
          <a:noFill/>
          <a:ln/>
        </p:spPr>
        <p:txBody>
          <a:bodyPr wrap="square" lIns="0" tIns="0" rIns="0" bIns="0" rtlCol="0" anchor="ctr"/>
          <a:lstStyle/>
          <a:p>
            <a:pPr marL="0" indent="0">
              <a:buNone/>
            </a:pPr>
            <a:r>
              <a:rPr lang="en-US" sz="1050" b="1" kern="0" spc="120" dirty="0">
                <a:solidFill>
                  <a:srgbClr val="5A6B7A"/>
                </a:solidFill>
                <a:latin typeface="Calibri" pitchFamily="34" charset="0"/>
                <a:ea typeface="Calibri" pitchFamily="34" charset="-122"/>
                <a:cs typeface="Calibri" pitchFamily="34" charset="-120"/>
              </a:rPr>
              <a:t>CHRONOLOGICAL LOG</a:t>
            </a:r>
            <a:endParaRPr lang="en-US" sz="1050" dirty="0"/>
          </a:p>
        </p:txBody>
      </p:sp>
      <p:sp>
        <p:nvSpPr>
          <p:cNvPr id="6" name="Text 4"/>
          <p:cNvSpPr/>
          <p:nvPr/>
        </p:nvSpPr>
        <p:spPr>
          <a:xfrm>
            <a:off x="777240" y="2167128"/>
            <a:ext cx="4846320" cy="310896"/>
          </a:xfrm>
          <a:prstGeom prst="rect">
            <a:avLst/>
          </a:prstGeom>
          <a:noFill/>
          <a:ln/>
        </p:spPr>
        <p:txBody>
          <a:bodyPr wrap="square" lIns="0" tIns="0" rIns="0" bIns="0" rtlCol="0" anchor="ctr"/>
          <a:lstStyle/>
          <a:p>
            <a:pPr marL="0" indent="0">
              <a:buNone/>
            </a:pPr>
            <a:r>
              <a:rPr lang="en-US" sz="1150" dirty="0">
                <a:solidFill>
                  <a:srgbClr val="1C2733"/>
                </a:solidFill>
                <a:latin typeface="Courier New" pitchFamily="34" charset="0"/>
                <a:ea typeface="Courier New" pitchFamily="34" charset="-122"/>
                <a:cs typeface="Courier New" pitchFamily="34" charset="-120"/>
              </a:rPr>
              <a:t>10:04:02   retrieved document</a:t>
            </a:r>
            <a:endParaRPr lang="en-US" sz="1150" dirty="0"/>
          </a:p>
        </p:txBody>
      </p:sp>
      <p:sp>
        <p:nvSpPr>
          <p:cNvPr id="7" name="Text 5"/>
          <p:cNvSpPr/>
          <p:nvPr/>
        </p:nvSpPr>
        <p:spPr>
          <a:xfrm>
            <a:off x="777240" y="2551176"/>
            <a:ext cx="4846320" cy="310896"/>
          </a:xfrm>
          <a:prstGeom prst="rect">
            <a:avLst/>
          </a:prstGeom>
          <a:noFill/>
          <a:ln/>
        </p:spPr>
        <p:txBody>
          <a:bodyPr wrap="square" lIns="0" tIns="0" rIns="0" bIns="0" rtlCol="0" anchor="ctr"/>
          <a:lstStyle/>
          <a:p>
            <a:pPr marL="0" indent="0">
              <a:buNone/>
            </a:pPr>
            <a:r>
              <a:rPr lang="en-US" sz="1150" dirty="0">
                <a:solidFill>
                  <a:srgbClr val="1C2733"/>
                </a:solidFill>
                <a:latin typeface="Courier New" pitchFamily="34" charset="0"/>
                <a:ea typeface="Courier New" pitchFamily="34" charset="-122"/>
                <a:cs typeface="Courier New" pitchFamily="34" charset="-120"/>
              </a:rPr>
              <a:t>10:04:07   extracted a value</a:t>
            </a:r>
            <a:endParaRPr lang="en-US" sz="1150" dirty="0"/>
          </a:p>
        </p:txBody>
      </p:sp>
      <p:sp>
        <p:nvSpPr>
          <p:cNvPr id="8" name="Text 6"/>
          <p:cNvSpPr/>
          <p:nvPr/>
        </p:nvSpPr>
        <p:spPr>
          <a:xfrm>
            <a:off x="777240" y="2935224"/>
            <a:ext cx="4846320" cy="310896"/>
          </a:xfrm>
          <a:prstGeom prst="rect">
            <a:avLst/>
          </a:prstGeom>
          <a:noFill/>
          <a:ln/>
        </p:spPr>
        <p:txBody>
          <a:bodyPr wrap="square" lIns="0" tIns="0" rIns="0" bIns="0" rtlCol="0" anchor="ctr"/>
          <a:lstStyle/>
          <a:p>
            <a:pPr marL="0" indent="0">
              <a:buNone/>
            </a:pPr>
            <a:r>
              <a:rPr lang="en-US" sz="1150" dirty="0">
                <a:solidFill>
                  <a:srgbClr val="1C2733"/>
                </a:solidFill>
                <a:latin typeface="Courier New" pitchFamily="34" charset="0"/>
                <a:ea typeface="Courier New" pitchFamily="34" charset="-122"/>
                <a:cs typeface="Courier New" pitchFamily="34" charset="-120"/>
              </a:rPr>
              <a:t>10:04:09   called a tool</a:t>
            </a:r>
            <a:endParaRPr lang="en-US" sz="1150" dirty="0"/>
          </a:p>
        </p:txBody>
      </p:sp>
      <p:sp>
        <p:nvSpPr>
          <p:cNvPr id="9" name="Text 7"/>
          <p:cNvSpPr/>
          <p:nvPr/>
        </p:nvSpPr>
        <p:spPr>
          <a:xfrm>
            <a:off x="777240" y="3319272"/>
            <a:ext cx="4846320" cy="310896"/>
          </a:xfrm>
          <a:prstGeom prst="rect">
            <a:avLst/>
          </a:prstGeom>
          <a:noFill/>
          <a:ln/>
        </p:spPr>
        <p:txBody>
          <a:bodyPr wrap="square" lIns="0" tIns="0" rIns="0" bIns="0" rtlCol="0" anchor="ctr"/>
          <a:lstStyle/>
          <a:p>
            <a:pPr marL="0" indent="0">
              <a:buNone/>
            </a:pPr>
            <a:r>
              <a:rPr lang="en-US" sz="1150" dirty="0">
                <a:solidFill>
                  <a:srgbClr val="1C2733"/>
                </a:solidFill>
                <a:latin typeface="Courier New" pitchFamily="34" charset="0"/>
                <a:ea typeface="Courier New" pitchFamily="34" charset="-122"/>
                <a:cs typeface="Courier New" pitchFamily="34" charset="-120"/>
              </a:rPr>
              <a:t>10:04:15   wrote a note</a:t>
            </a:r>
            <a:endParaRPr lang="en-US" sz="1150" dirty="0"/>
          </a:p>
        </p:txBody>
      </p:sp>
      <p:sp>
        <p:nvSpPr>
          <p:cNvPr id="10" name="Text 8"/>
          <p:cNvSpPr/>
          <p:nvPr/>
        </p:nvSpPr>
        <p:spPr>
          <a:xfrm>
            <a:off x="777240" y="3886200"/>
            <a:ext cx="4846320" cy="45720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Answers “what happened, and when?” — excellent for sequence, latency, and debugging.</a:t>
            </a:r>
            <a:endParaRPr lang="en-US" sz="1150" dirty="0"/>
          </a:p>
        </p:txBody>
      </p:sp>
      <p:sp>
        <p:nvSpPr>
          <p:cNvPr id="11" name="Text 9"/>
          <p:cNvSpPr/>
          <p:nvPr/>
        </p:nvSpPr>
        <p:spPr>
          <a:xfrm>
            <a:off x="777240" y="4343400"/>
            <a:ext cx="4846320" cy="457200"/>
          </a:xfrm>
          <a:prstGeom prst="rect">
            <a:avLst/>
          </a:prstGeom>
          <a:noFill/>
          <a:ln/>
        </p:spPr>
        <p:txBody>
          <a:bodyPr wrap="square" lIns="0" tIns="0" rIns="0" bIns="0" rtlCol="0" anchor="ctr"/>
          <a:lstStyle/>
          <a:p>
            <a:pPr marL="0" indent="0">
              <a:buNone/>
            </a:pPr>
            <a:r>
              <a:rPr lang="en-US" sz="1050" i="1" dirty="0">
                <a:solidFill>
                  <a:srgbClr val="7A2E3C"/>
                </a:solidFill>
                <a:latin typeface="Calibri" pitchFamily="34" charset="0"/>
                <a:ea typeface="Calibri" pitchFamily="34" charset="-122"/>
                <a:cs typeface="Calibri" pitchFamily="34" charset="-120"/>
              </a:rPr>
              <a:t>Leaves unanswered:  which evidence supported the claim?  did that tool call influence it?  what breaks if one cell changes?</a:t>
            </a:r>
            <a:endParaRPr lang="en-US" sz="1050" dirty="0"/>
          </a:p>
        </p:txBody>
      </p:sp>
      <p:sp>
        <p:nvSpPr>
          <p:cNvPr id="12" name="Shape 10"/>
          <p:cNvSpPr/>
          <p:nvPr/>
        </p:nvSpPr>
        <p:spPr>
          <a:xfrm>
            <a:off x="6263640" y="1600200"/>
            <a:ext cx="5349240" cy="3383280"/>
          </a:xfrm>
          <a:prstGeom prst="roundRect">
            <a:avLst>
              <a:gd name="adj" fmla="val 1622"/>
            </a:avLst>
          </a:prstGeom>
          <a:solidFill>
            <a:srgbClr val="EEF4F7"/>
          </a:solidFill>
          <a:ln w="12700">
            <a:solidFill>
              <a:srgbClr val="C3D2DC"/>
            </a:solidFill>
            <a:prstDash val="solid"/>
          </a:ln>
        </p:spPr>
      </p:sp>
      <p:sp>
        <p:nvSpPr>
          <p:cNvPr id="13" name="Text 11"/>
          <p:cNvSpPr/>
          <p:nvPr/>
        </p:nvSpPr>
        <p:spPr>
          <a:xfrm>
            <a:off x="6492240" y="1783080"/>
            <a:ext cx="4846320" cy="237744"/>
          </a:xfrm>
          <a:prstGeom prst="rect">
            <a:avLst/>
          </a:prstGeom>
          <a:noFill/>
          <a:ln/>
        </p:spPr>
        <p:txBody>
          <a:bodyPr wrap="square" lIns="0" tIns="0" rIns="0" bIns="0" rtlCol="0" anchor="ctr"/>
          <a:lstStyle/>
          <a:p>
            <a:pPr marL="0" indent="0">
              <a:buNone/>
            </a:pPr>
            <a:r>
              <a:rPr lang="en-US" sz="1050" b="1" kern="0" spc="120" dirty="0">
                <a:solidFill>
                  <a:srgbClr val="17324D"/>
                </a:solidFill>
                <a:latin typeface="Calibri" pitchFamily="34" charset="0"/>
                <a:ea typeface="Calibri" pitchFamily="34" charset="-122"/>
                <a:cs typeface="Calibri" pitchFamily="34" charset="-120"/>
              </a:rPr>
              <a:t>DEPENDENCY GRAPH</a:t>
            </a:r>
            <a:endParaRPr lang="en-US" sz="1050" dirty="0"/>
          </a:p>
        </p:txBody>
      </p:sp>
      <p:sp>
        <p:nvSpPr>
          <p:cNvPr id="14" name="Shape 12"/>
          <p:cNvSpPr/>
          <p:nvPr/>
        </p:nvSpPr>
        <p:spPr>
          <a:xfrm>
            <a:off x="6492240" y="2167128"/>
            <a:ext cx="1463040" cy="658368"/>
          </a:xfrm>
          <a:prstGeom prst="roundRect">
            <a:avLst>
              <a:gd name="adj" fmla="val 11111"/>
            </a:avLst>
          </a:prstGeom>
          <a:solidFill>
            <a:srgbClr val="FFFFFF"/>
          </a:solidFill>
          <a:ln w="15875">
            <a:solidFill>
              <a:srgbClr val="17324D"/>
            </a:solidFill>
            <a:prstDash val="solid"/>
          </a:ln>
        </p:spPr>
      </p:sp>
      <p:sp>
        <p:nvSpPr>
          <p:cNvPr id="15" name="Text 13"/>
          <p:cNvSpPr/>
          <p:nvPr/>
        </p:nvSpPr>
        <p:spPr>
          <a:xfrm>
            <a:off x="6601968" y="2231136"/>
            <a:ext cx="1243584" cy="182880"/>
          </a:xfrm>
          <a:prstGeom prst="rect">
            <a:avLst/>
          </a:prstGeom>
          <a:noFill/>
          <a:ln/>
        </p:spPr>
        <p:txBody>
          <a:bodyPr wrap="square" lIns="0" tIns="0" rIns="0" bIns="0" rtlCol="0" anchor="ctr"/>
          <a:lstStyle/>
          <a:p>
            <a:pPr marL="0" indent="0">
              <a:buNone/>
            </a:pPr>
            <a:r>
              <a:rPr lang="en-US" sz="800" b="1" kern="0" spc="110" dirty="0">
                <a:solidFill>
                  <a:srgbClr val="17324D"/>
                </a:solidFill>
                <a:latin typeface="Calibri" pitchFamily="34" charset="0"/>
                <a:ea typeface="Calibri" pitchFamily="34" charset="-122"/>
                <a:cs typeface="Calibri" pitchFamily="34" charset="-120"/>
              </a:rPr>
              <a:t>SOURCE</a:t>
            </a:r>
            <a:endParaRPr lang="en-US" sz="800" dirty="0"/>
          </a:p>
        </p:txBody>
      </p:sp>
      <p:sp>
        <p:nvSpPr>
          <p:cNvPr id="16" name="Text 14"/>
          <p:cNvSpPr/>
          <p:nvPr/>
        </p:nvSpPr>
        <p:spPr>
          <a:xfrm>
            <a:off x="6601968" y="2414016"/>
            <a:ext cx="1243584" cy="329184"/>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Document</a:t>
            </a:r>
            <a:endParaRPr lang="en-US" sz="1050" dirty="0"/>
          </a:p>
        </p:txBody>
      </p:sp>
      <p:sp>
        <p:nvSpPr>
          <p:cNvPr id="17" name="Shape 15"/>
          <p:cNvSpPr/>
          <p:nvPr/>
        </p:nvSpPr>
        <p:spPr>
          <a:xfrm>
            <a:off x="8275320" y="2167128"/>
            <a:ext cx="1463040" cy="658368"/>
          </a:xfrm>
          <a:prstGeom prst="roundRect">
            <a:avLst>
              <a:gd name="adj" fmla="val 11111"/>
            </a:avLst>
          </a:prstGeom>
          <a:solidFill>
            <a:srgbClr val="FFFFFF"/>
          </a:solidFill>
          <a:ln w="15875">
            <a:solidFill>
              <a:srgbClr val="0E7C86"/>
            </a:solidFill>
            <a:prstDash val="solid"/>
          </a:ln>
        </p:spPr>
      </p:sp>
      <p:sp>
        <p:nvSpPr>
          <p:cNvPr id="18" name="Text 16"/>
          <p:cNvSpPr/>
          <p:nvPr/>
        </p:nvSpPr>
        <p:spPr>
          <a:xfrm>
            <a:off x="8385048" y="2231136"/>
            <a:ext cx="1243584" cy="182880"/>
          </a:xfrm>
          <a:prstGeom prst="rect">
            <a:avLst/>
          </a:prstGeom>
          <a:noFill/>
          <a:ln/>
        </p:spPr>
        <p:txBody>
          <a:bodyPr wrap="square" lIns="0" tIns="0" rIns="0" bIns="0" rtlCol="0" anchor="ctr"/>
          <a:lstStyle/>
          <a:p>
            <a:pPr marL="0" indent="0">
              <a:buNone/>
            </a:pPr>
            <a:r>
              <a:rPr lang="en-US" sz="800" b="1" kern="0" spc="110" dirty="0">
                <a:solidFill>
                  <a:srgbClr val="0E7C86"/>
                </a:solidFill>
                <a:latin typeface="Calibri" pitchFamily="34" charset="0"/>
                <a:ea typeface="Calibri" pitchFamily="34" charset="-122"/>
                <a:cs typeface="Calibri" pitchFamily="34" charset="-120"/>
              </a:rPr>
              <a:t>OBSERVATION</a:t>
            </a:r>
            <a:endParaRPr lang="en-US" sz="800" dirty="0"/>
          </a:p>
        </p:txBody>
      </p:sp>
      <p:sp>
        <p:nvSpPr>
          <p:cNvPr id="19" name="Text 17"/>
          <p:cNvSpPr/>
          <p:nvPr/>
        </p:nvSpPr>
        <p:spPr>
          <a:xfrm>
            <a:off x="8385048" y="2414016"/>
            <a:ext cx="1243584" cy="329184"/>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Value</a:t>
            </a:r>
            <a:endParaRPr lang="en-US" sz="1050" dirty="0"/>
          </a:p>
        </p:txBody>
      </p:sp>
      <p:sp>
        <p:nvSpPr>
          <p:cNvPr id="20" name="Shape 18"/>
          <p:cNvSpPr/>
          <p:nvPr/>
        </p:nvSpPr>
        <p:spPr>
          <a:xfrm>
            <a:off x="10058400" y="2167128"/>
            <a:ext cx="1325880" cy="658368"/>
          </a:xfrm>
          <a:prstGeom prst="roundRect">
            <a:avLst>
              <a:gd name="adj" fmla="val 11111"/>
            </a:avLst>
          </a:prstGeom>
          <a:solidFill>
            <a:srgbClr val="FFFFFF"/>
          </a:solidFill>
          <a:ln w="15875">
            <a:solidFill>
              <a:srgbClr val="C2700A"/>
            </a:solidFill>
            <a:prstDash val="solid"/>
          </a:ln>
        </p:spPr>
      </p:sp>
      <p:sp>
        <p:nvSpPr>
          <p:cNvPr id="21" name="Text 19"/>
          <p:cNvSpPr/>
          <p:nvPr/>
        </p:nvSpPr>
        <p:spPr>
          <a:xfrm>
            <a:off x="10168128" y="2231136"/>
            <a:ext cx="1106424" cy="182880"/>
          </a:xfrm>
          <a:prstGeom prst="rect">
            <a:avLst/>
          </a:prstGeom>
          <a:noFill/>
          <a:ln/>
        </p:spPr>
        <p:txBody>
          <a:bodyPr wrap="square" lIns="0" tIns="0" rIns="0" bIns="0" rtlCol="0" anchor="ctr"/>
          <a:lstStyle/>
          <a:p>
            <a:pPr marL="0" indent="0">
              <a:buNone/>
            </a:pPr>
            <a:r>
              <a:rPr lang="en-US" sz="800" b="1" kern="0" spc="110" dirty="0">
                <a:solidFill>
                  <a:srgbClr val="C2700A"/>
                </a:solidFill>
                <a:latin typeface="Calibri" pitchFamily="34" charset="0"/>
                <a:ea typeface="Calibri" pitchFamily="34" charset="-122"/>
                <a:cs typeface="Calibri" pitchFamily="34" charset="-120"/>
              </a:rPr>
              <a:t>ACTION</a:t>
            </a:r>
            <a:endParaRPr lang="en-US" sz="800" dirty="0"/>
          </a:p>
        </p:txBody>
      </p:sp>
      <p:sp>
        <p:nvSpPr>
          <p:cNvPr id="22" name="Text 20"/>
          <p:cNvSpPr/>
          <p:nvPr/>
        </p:nvSpPr>
        <p:spPr>
          <a:xfrm>
            <a:off x="10168128" y="2414016"/>
            <a:ext cx="1106424" cy="329184"/>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Tool call</a:t>
            </a:r>
            <a:endParaRPr lang="en-US" sz="1050" dirty="0"/>
          </a:p>
        </p:txBody>
      </p:sp>
      <p:sp>
        <p:nvSpPr>
          <p:cNvPr id="23" name="Shape 21"/>
          <p:cNvSpPr/>
          <p:nvPr/>
        </p:nvSpPr>
        <p:spPr>
          <a:xfrm>
            <a:off x="8275320" y="3383280"/>
            <a:ext cx="1463040" cy="658368"/>
          </a:xfrm>
          <a:prstGeom prst="roundRect">
            <a:avLst>
              <a:gd name="adj" fmla="val 11111"/>
            </a:avLst>
          </a:prstGeom>
          <a:solidFill>
            <a:srgbClr val="FFFFFF"/>
          </a:solidFill>
          <a:ln w="15875">
            <a:solidFill>
              <a:srgbClr val="7A2E3C"/>
            </a:solidFill>
            <a:prstDash val="solid"/>
          </a:ln>
        </p:spPr>
      </p:sp>
      <p:sp>
        <p:nvSpPr>
          <p:cNvPr id="24" name="Text 22"/>
          <p:cNvSpPr/>
          <p:nvPr/>
        </p:nvSpPr>
        <p:spPr>
          <a:xfrm>
            <a:off x="8385048" y="3447288"/>
            <a:ext cx="1243584" cy="182880"/>
          </a:xfrm>
          <a:prstGeom prst="rect">
            <a:avLst/>
          </a:prstGeom>
          <a:noFill/>
          <a:ln/>
        </p:spPr>
        <p:txBody>
          <a:bodyPr wrap="square" lIns="0" tIns="0" rIns="0" bIns="0" rtlCol="0" anchor="ctr"/>
          <a:lstStyle/>
          <a:p>
            <a:pPr marL="0" indent="0">
              <a:buNone/>
            </a:pPr>
            <a:r>
              <a:rPr lang="en-US" sz="800" b="1" kern="0" spc="110" dirty="0">
                <a:solidFill>
                  <a:srgbClr val="7A2E3C"/>
                </a:solidFill>
                <a:latin typeface="Calibri" pitchFamily="34" charset="0"/>
                <a:ea typeface="Calibri" pitchFamily="34" charset="-122"/>
                <a:cs typeface="Calibri" pitchFamily="34" charset="-120"/>
              </a:rPr>
              <a:t>CLAIM</a:t>
            </a:r>
            <a:endParaRPr lang="en-US" sz="800" dirty="0"/>
          </a:p>
        </p:txBody>
      </p:sp>
      <p:sp>
        <p:nvSpPr>
          <p:cNvPr id="25" name="Text 23"/>
          <p:cNvSpPr/>
          <p:nvPr/>
        </p:nvSpPr>
        <p:spPr>
          <a:xfrm>
            <a:off x="8385048" y="3630168"/>
            <a:ext cx="1243584" cy="329184"/>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Finding</a:t>
            </a:r>
            <a:endParaRPr lang="en-US" sz="1050" dirty="0"/>
          </a:p>
        </p:txBody>
      </p:sp>
      <p:sp>
        <p:nvSpPr>
          <p:cNvPr id="26" name="Shape 24"/>
          <p:cNvSpPr/>
          <p:nvPr/>
        </p:nvSpPr>
        <p:spPr>
          <a:xfrm>
            <a:off x="8001000" y="2496312"/>
            <a:ext cx="228600" cy="0"/>
          </a:xfrm>
          <a:prstGeom prst="line">
            <a:avLst/>
          </a:prstGeom>
          <a:noFill/>
          <a:ln w="19050">
            <a:solidFill>
              <a:srgbClr val="5A6B7A"/>
            </a:solidFill>
            <a:prstDash val="solid"/>
            <a:headEnd type="none"/>
            <a:tailEnd type="triangle"/>
          </a:ln>
        </p:spPr>
      </p:sp>
      <p:sp>
        <p:nvSpPr>
          <p:cNvPr id="27" name="Shape 25"/>
          <p:cNvSpPr/>
          <p:nvPr/>
        </p:nvSpPr>
        <p:spPr>
          <a:xfrm>
            <a:off x="9784080" y="2496312"/>
            <a:ext cx="228600" cy="0"/>
          </a:xfrm>
          <a:prstGeom prst="line">
            <a:avLst/>
          </a:prstGeom>
          <a:noFill/>
          <a:ln w="19050">
            <a:solidFill>
              <a:srgbClr val="5A6B7A"/>
            </a:solidFill>
            <a:prstDash val="solid"/>
            <a:headEnd type="none"/>
            <a:tailEnd type="triangle"/>
          </a:ln>
        </p:spPr>
      </p:sp>
      <p:sp>
        <p:nvSpPr>
          <p:cNvPr id="28" name="Shape 26"/>
          <p:cNvSpPr/>
          <p:nvPr/>
        </p:nvSpPr>
        <p:spPr>
          <a:xfrm>
            <a:off x="9006840" y="2862072"/>
            <a:ext cx="0" cy="475488"/>
          </a:xfrm>
          <a:prstGeom prst="line">
            <a:avLst/>
          </a:prstGeom>
          <a:noFill/>
          <a:ln w="19050">
            <a:solidFill>
              <a:srgbClr val="5A6B7A"/>
            </a:solidFill>
            <a:prstDash val="solid"/>
            <a:headEnd type="none"/>
            <a:tailEnd type="triangle"/>
          </a:ln>
        </p:spPr>
      </p:sp>
      <p:sp>
        <p:nvSpPr>
          <p:cNvPr id="29" name="Shape 27"/>
          <p:cNvSpPr/>
          <p:nvPr/>
        </p:nvSpPr>
        <p:spPr>
          <a:xfrm flipH="1">
            <a:off x="9601200" y="2862072"/>
            <a:ext cx="1120140" cy="475488"/>
          </a:xfrm>
          <a:prstGeom prst="line">
            <a:avLst/>
          </a:prstGeom>
          <a:noFill/>
          <a:ln w="19050">
            <a:solidFill>
              <a:srgbClr val="5A6B7A"/>
            </a:solidFill>
            <a:prstDash val="solid"/>
            <a:headEnd type="none"/>
            <a:tailEnd type="triangle"/>
          </a:ln>
        </p:spPr>
      </p:sp>
      <p:sp>
        <p:nvSpPr>
          <p:cNvPr id="30" name="Text 28"/>
          <p:cNvSpPr/>
          <p:nvPr/>
        </p:nvSpPr>
        <p:spPr>
          <a:xfrm>
            <a:off x="6903720" y="1929384"/>
            <a:ext cx="1463040" cy="201168"/>
          </a:xfrm>
          <a:prstGeom prst="rect">
            <a:avLst/>
          </a:prstGeom>
          <a:noFill/>
          <a:ln/>
        </p:spPr>
        <p:txBody>
          <a:bodyPr wrap="square" lIns="0" tIns="0" rIns="0" bIns="0" rtlCol="0" anchor="ctr"/>
          <a:lstStyle/>
          <a:p>
            <a:pPr marL="0" indent="0" algn="ctr">
              <a:buNone/>
            </a:pPr>
            <a:r>
              <a:rPr lang="en-US" sz="850" i="1" dirty="0">
                <a:solidFill>
                  <a:srgbClr val="5A6B7A"/>
                </a:solidFill>
                <a:latin typeface="Calibri" pitchFamily="34" charset="0"/>
                <a:ea typeface="Calibri" pitchFamily="34" charset="-122"/>
                <a:cs typeface="Calibri" pitchFamily="34" charset="-120"/>
              </a:rPr>
              <a:t>derived_from</a:t>
            </a:r>
            <a:endParaRPr lang="en-US" sz="850" dirty="0"/>
          </a:p>
        </p:txBody>
      </p:sp>
      <p:sp>
        <p:nvSpPr>
          <p:cNvPr id="31" name="Text 29"/>
          <p:cNvSpPr/>
          <p:nvPr/>
        </p:nvSpPr>
        <p:spPr>
          <a:xfrm>
            <a:off x="6492240" y="4297680"/>
            <a:ext cx="4846320" cy="457200"/>
          </a:xfrm>
          <a:prstGeom prst="rect">
            <a:avLst/>
          </a:prstGeom>
          <a:noFill/>
          <a:ln/>
        </p:spPr>
        <p:txBody>
          <a:bodyPr wrap="square" lIns="0" tIns="0" rIns="0" bIns="0" rtlCol="0" anchor="ctr"/>
          <a:lstStyle/>
          <a:p>
            <a:pPr marL="0" indent="0">
              <a:buNone/>
            </a:pPr>
            <a:r>
              <a:rPr lang="en-US" sz="1150" dirty="0">
                <a:solidFill>
                  <a:srgbClr val="5A6B7A"/>
                </a:solidFill>
                <a:latin typeface="Calibri" pitchFamily="34" charset="0"/>
                <a:ea typeface="Calibri" pitchFamily="34" charset="-122"/>
                <a:cs typeface="Calibri" pitchFamily="34" charset="-120"/>
              </a:rPr>
              <a:t>Edges carry meaning, not just sequence. Ancestors and descendants become queryable.</a:t>
            </a:r>
            <a:endParaRPr lang="en-US" sz="1150" dirty="0"/>
          </a:p>
        </p:txBody>
      </p:sp>
      <p:sp>
        <p:nvSpPr>
          <p:cNvPr id="32" name="Shape 30"/>
          <p:cNvSpPr/>
          <p:nvPr/>
        </p:nvSpPr>
        <p:spPr>
          <a:xfrm>
            <a:off x="548640" y="5285232"/>
            <a:ext cx="11064240" cy="658368"/>
          </a:xfrm>
          <a:prstGeom prst="roundRect">
            <a:avLst>
              <a:gd name="adj" fmla="val 8333"/>
            </a:avLst>
          </a:prstGeom>
          <a:solidFill>
            <a:srgbClr val="17324D"/>
          </a:solidFill>
          <a:ln w="12700">
            <a:solidFill>
              <a:srgbClr val="17324D"/>
            </a:solidFill>
            <a:prstDash val="solid"/>
          </a:ln>
        </p:spPr>
      </p:sp>
      <p:sp>
        <p:nvSpPr>
          <p:cNvPr id="33" name="Text 31"/>
          <p:cNvSpPr/>
          <p:nvPr/>
        </p:nvSpPr>
        <p:spPr>
          <a:xfrm>
            <a:off x="822960" y="5285232"/>
            <a:ext cx="10515600" cy="65836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log is a “what happened” trail.  Provenance is a “what depended on what” trail.</a:t>
            </a:r>
            <a:endParaRPr lang="en-US" sz="1400" dirty="0"/>
          </a:p>
        </p:txBody>
      </p:sp>
      <p:sp>
        <p:nvSpPr>
          <p:cNvPr id="34" name="Text 32"/>
          <p:cNvSpPr/>
          <p:nvPr/>
        </p:nvSpPr>
        <p:spPr>
          <a:xfrm>
            <a:off x="566928" y="6144768"/>
            <a:ext cx="11064240" cy="274320"/>
          </a:xfrm>
          <a:prstGeom prst="rect">
            <a:avLst/>
          </a:prstGeom>
          <a:noFill/>
          <a:ln/>
        </p:spPr>
        <p:txBody>
          <a:bodyPr wrap="square" lIns="0" tIns="0" rIns="0" bIns="0"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Logs and distributed traces can encode dependencies — an ordinary chronological log just doesn’t do it automatically.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marL="0" indent="0">
              <a:buNone/>
            </a:pPr>
            <a:r>
              <a:rPr lang="en-US" sz="1100" b="1" kern="0" spc="160" dirty="0">
                <a:solidFill>
                  <a:srgbClr val="C2700A"/>
                </a:solidFill>
                <a:latin typeface="Calibri" pitchFamily="34" charset="0"/>
                <a:ea typeface="Calibri" pitchFamily="34" charset="-122"/>
                <a:cs typeface="Calibri" pitchFamily="34" charset="-120"/>
              </a:rPr>
              <a:t>THE MODEL</a:t>
            </a:r>
            <a:endParaRPr lang="en-US" sz="1100" dirty="0"/>
          </a:p>
        </p:txBody>
      </p:sp>
      <p:sp>
        <p:nvSpPr>
          <p:cNvPr id="3" name="Text 1"/>
          <p:cNvSpPr/>
          <p:nvPr/>
        </p:nvSpPr>
        <p:spPr>
          <a:xfrm>
            <a:off x="548640" y="658368"/>
            <a:ext cx="1060704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Mental model: a typed dependency graph</a:t>
            </a:r>
            <a:endParaRPr lang="en-US" sz="3200" dirty="0"/>
          </a:p>
        </p:txBody>
      </p:sp>
      <p:sp>
        <p:nvSpPr>
          <p:cNvPr id="4" name="Shape 2"/>
          <p:cNvSpPr/>
          <p:nvPr/>
        </p:nvSpPr>
        <p:spPr>
          <a:xfrm>
            <a:off x="548640" y="1572768"/>
            <a:ext cx="2670048" cy="1298448"/>
          </a:xfrm>
          <a:prstGeom prst="roundRect">
            <a:avLst>
              <a:gd name="adj" fmla="val 4225"/>
            </a:avLst>
          </a:prstGeom>
          <a:solidFill>
            <a:srgbClr val="EEF4F7"/>
          </a:solidFill>
          <a:ln w="15875">
            <a:solidFill>
              <a:srgbClr val="17324D"/>
            </a:solidFill>
            <a:prstDash val="solid"/>
          </a:ln>
        </p:spPr>
      </p:sp>
      <p:sp>
        <p:nvSpPr>
          <p:cNvPr id="5" name="Shape 3"/>
          <p:cNvSpPr/>
          <p:nvPr/>
        </p:nvSpPr>
        <p:spPr>
          <a:xfrm>
            <a:off x="749808" y="1773936"/>
            <a:ext cx="173736" cy="173736"/>
          </a:xfrm>
          <a:prstGeom prst="ellipse">
            <a:avLst/>
          </a:prstGeom>
          <a:solidFill>
            <a:srgbClr val="17324D"/>
          </a:solidFill>
          <a:ln w="12700">
            <a:solidFill>
              <a:srgbClr val="17324D"/>
            </a:solidFill>
            <a:prstDash val="solid"/>
          </a:ln>
        </p:spPr>
      </p:sp>
      <p:sp>
        <p:nvSpPr>
          <p:cNvPr id="6" name="Text 4"/>
          <p:cNvSpPr/>
          <p:nvPr/>
        </p:nvSpPr>
        <p:spPr>
          <a:xfrm>
            <a:off x="1024128" y="1737360"/>
            <a:ext cx="2029968" cy="256032"/>
          </a:xfrm>
          <a:prstGeom prst="rect">
            <a:avLst/>
          </a:prstGeom>
          <a:noFill/>
          <a:ln/>
        </p:spPr>
        <p:txBody>
          <a:bodyPr wrap="square" lIns="0" tIns="0" rIns="0" bIns="0" rtlCol="0" anchor="ctr"/>
          <a:lstStyle/>
          <a:p>
            <a:pPr marL="0" indent="0">
              <a:buNone/>
            </a:pPr>
            <a:r>
              <a:rPr lang="en-US" sz="1150" b="1" kern="0" spc="80" dirty="0">
                <a:solidFill>
                  <a:srgbClr val="17324D"/>
                </a:solidFill>
                <a:latin typeface="Calibri" pitchFamily="34" charset="0"/>
                <a:ea typeface="Calibri" pitchFamily="34" charset="-122"/>
                <a:cs typeface="Calibri" pitchFamily="34" charset="-120"/>
              </a:rPr>
              <a:t>SOURCE</a:t>
            </a:r>
            <a:endParaRPr lang="en-US" sz="1150" dirty="0"/>
          </a:p>
        </p:txBody>
      </p:sp>
      <p:sp>
        <p:nvSpPr>
          <p:cNvPr id="7" name="Text 5"/>
          <p:cNvSpPr/>
          <p:nvPr/>
        </p:nvSpPr>
        <p:spPr>
          <a:xfrm>
            <a:off x="749808" y="2084832"/>
            <a:ext cx="2267712" cy="713232"/>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Documents, database rows,</a:t>
            </a:r>
            <a:endParaRPr lang="en-US" sz="1100" dirty="0"/>
          </a:p>
          <a:p>
            <a:pPr marL="0" indent="0">
              <a:buNone/>
            </a:pPr>
            <a:r>
              <a:rPr lang="en-US" sz="1100" dirty="0">
                <a:solidFill>
                  <a:srgbClr val="1C2733"/>
                </a:solidFill>
                <a:latin typeface="Calibri" pitchFamily="34" charset="0"/>
                <a:ea typeface="Calibri" pitchFamily="34" charset="-122"/>
                <a:cs typeface="Calibri" pitchFamily="34" charset="-120"/>
              </a:rPr>
              <a:t>spreadsheet cells, API records</a:t>
            </a:r>
            <a:endParaRPr lang="en-US" sz="1100" dirty="0"/>
          </a:p>
        </p:txBody>
      </p:sp>
      <p:sp>
        <p:nvSpPr>
          <p:cNvPr id="8" name="Shape 6"/>
          <p:cNvSpPr/>
          <p:nvPr/>
        </p:nvSpPr>
        <p:spPr>
          <a:xfrm>
            <a:off x="3429000" y="1572768"/>
            <a:ext cx="2670048" cy="1298448"/>
          </a:xfrm>
          <a:prstGeom prst="roundRect">
            <a:avLst>
              <a:gd name="adj" fmla="val 4225"/>
            </a:avLst>
          </a:prstGeom>
          <a:solidFill>
            <a:srgbClr val="EEF4F7"/>
          </a:solidFill>
          <a:ln w="15875">
            <a:solidFill>
              <a:srgbClr val="0E7C86"/>
            </a:solidFill>
            <a:prstDash val="solid"/>
          </a:ln>
        </p:spPr>
      </p:sp>
      <p:sp>
        <p:nvSpPr>
          <p:cNvPr id="9" name="Shape 7"/>
          <p:cNvSpPr/>
          <p:nvPr/>
        </p:nvSpPr>
        <p:spPr>
          <a:xfrm>
            <a:off x="3630168" y="1773936"/>
            <a:ext cx="173736" cy="173736"/>
          </a:xfrm>
          <a:prstGeom prst="ellipse">
            <a:avLst/>
          </a:prstGeom>
          <a:solidFill>
            <a:srgbClr val="0E7C86"/>
          </a:solidFill>
          <a:ln w="12700">
            <a:solidFill>
              <a:srgbClr val="0E7C86"/>
            </a:solidFill>
            <a:prstDash val="solid"/>
          </a:ln>
        </p:spPr>
      </p:sp>
      <p:sp>
        <p:nvSpPr>
          <p:cNvPr id="10" name="Text 8"/>
          <p:cNvSpPr/>
          <p:nvPr/>
        </p:nvSpPr>
        <p:spPr>
          <a:xfrm>
            <a:off x="3904488" y="1737360"/>
            <a:ext cx="2029968" cy="256032"/>
          </a:xfrm>
          <a:prstGeom prst="rect">
            <a:avLst/>
          </a:prstGeom>
          <a:noFill/>
          <a:ln/>
        </p:spPr>
        <p:txBody>
          <a:bodyPr wrap="square" lIns="0" tIns="0" rIns="0" bIns="0" rtlCol="0" anchor="ctr"/>
          <a:lstStyle/>
          <a:p>
            <a:pPr marL="0" indent="0">
              <a:buNone/>
            </a:pPr>
            <a:r>
              <a:rPr lang="en-US" sz="1150" b="1" kern="0" spc="80" dirty="0">
                <a:solidFill>
                  <a:srgbClr val="0E7C86"/>
                </a:solidFill>
                <a:latin typeface="Calibri" pitchFamily="34" charset="0"/>
                <a:ea typeface="Calibri" pitchFamily="34" charset="-122"/>
                <a:cs typeface="Calibri" pitchFamily="34" charset="-120"/>
              </a:rPr>
              <a:t>OBSERVATION</a:t>
            </a:r>
            <a:endParaRPr lang="en-US" sz="1150" dirty="0"/>
          </a:p>
        </p:txBody>
      </p:sp>
      <p:sp>
        <p:nvSpPr>
          <p:cNvPr id="11" name="Text 9"/>
          <p:cNvSpPr/>
          <p:nvPr/>
        </p:nvSpPr>
        <p:spPr>
          <a:xfrm>
            <a:off x="3630168" y="2084832"/>
            <a:ext cx="2267712" cy="713232"/>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Extracted fields,</a:t>
            </a:r>
            <a:endParaRPr lang="en-US" sz="1100" dirty="0"/>
          </a:p>
          <a:p>
            <a:pPr marL="0" indent="0">
              <a:buNone/>
            </a:pPr>
            <a:r>
              <a:rPr lang="en-US" sz="1100" dirty="0">
                <a:solidFill>
                  <a:srgbClr val="1C2733"/>
                </a:solidFill>
                <a:latin typeface="Calibri" pitchFamily="34" charset="0"/>
                <a:ea typeface="Calibri" pitchFamily="34" charset="-122"/>
                <a:cs typeface="Calibri" pitchFamily="34" charset="-120"/>
              </a:rPr>
              <a:t>parsed facts</a:t>
            </a:r>
            <a:endParaRPr lang="en-US" sz="1100" dirty="0"/>
          </a:p>
        </p:txBody>
      </p:sp>
      <p:sp>
        <p:nvSpPr>
          <p:cNvPr id="12" name="Shape 10"/>
          <p:cNvSpPr/>
          <p:nvPr/>
        </p:nvSpPr>
        <p:spPr>
          <a:xfrm>
            <a:off x="6309360" y="1572768"/>
            <a:ext cx="2670048" cy="1298448"/>
          </a:xfrm>
          <a:prstGeom prst="roundRect">
            <a:avLst>
              <a:gd name="adj" fmla="val 4225"/>
            </a:avLst>
          </a:prstGeom>
          <a:solidFill>
            <a:srgbClr val="EEF4F7"/>
          </a:solidFill>
          <a:ln w="15875">
            <a:solidFill>
              <a:srgbClr val="C2700A"/>
            </a:solidFill>
            <a:prstDash val="solid"/>
          </a:ln>
        </p:spPr>
      </p:sp>
      <p:sp>
        <p:nvSpPr>
          <p:cNvPr id="13" name="Shape 11"/>
          <p:cNvSpPr/>
          <p:nvPr/>
        </p:nvSpPr>
        <p:spPr>
          <a:xfrm>
            <a:off x="6510528" y="1773936"/>
            <a:ext cx="173736" cy="173736"/>
          </a:xfrm>
          <a:prstGeom prst="ellipse">
            <a:avLst/>
          </a:prstGeom>
          <a:solidFill>
            <a:srgbClr val="C2700A"/>
          </a:solidFill>
          <a:ln w="12700">
            <a:solidFill>
              <a:srgbClr val="C2700A"/>
            </a:solidFill>
            <a:prstDash val="solid"/>
          </a:ln>
        </p:spPr>
      </p:sp>
      <p:sp>
        <p:nvSpPr>
          <p:cNvPr id="14" name="Text 12"/>
          <p:cNvSpPr/>
          <p:nvPr/>
        </p:nvSpPr>
        <p:spPr>
          <a:xfrm>
            <a:off x="6784848" y="1737360"/>
            <a:ext cx="2029968" cy="256032"/>
          </a:xfrm>
          <a:prstGeom prst="rect">
            <a:avLst/>
          </a:prstGeom>
          <a:noFill/>
          <a:ln/>
        </p:spPr>
        <p:txBody>
          <a:bodyPr wrap="square" lIns="0" tIns="0" rIns="0" bIns="0" rtlCol="0" anchor="ctr"/>
          <a:lstStyle/>
          <a:p>
            <a:pPr marL="0" indent="0">
              <a:buNone/>
            </a:pPr>
            <a:r>
              <a:rPr lang="en-US" sz="1150" b="1" kern="0" spc="80" dirty="0">
                <a:solidFill>
                  <a:srgbClr val="C2700A"/>
                </a:solidFill>
                <a:latin typeface="Calibri" pitchFamily="34" charset="0"/>
                <a:ea typeface="Calibri" pitchFamily="34" charset="-122"/>
                <a:cs typeface="Calibri" pitchFamily="34" charset="-120"/>
              </a:rPr>
              <a:t>ACTION</a:t>
            </a:r>
            <a:endParaRPr lang="en-US" sz="1150" dirty="0"/>
          </a:p>
        </p:txBody>
      </p:sp>
      <p:sp>
        <p:nvSpPr>
          <p:cNvPr id="15" name="Text 13"/>
          <p:cNvSpPr/>
          <p:nvPr/>
        </p:nvSpPr>
        <p:spPr>
          <a:xfrm>
            <a:off x="6510528" y="2084832"/>
            <a:ext cx="2267712" cy="713232"/>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Tool calls, rule evaluations,</a:t>
            </a:r>
            <a:endParaRPr lang="en-US" sz="1100" dirty="0"/>
          </a:p>
          <a:p>
            <a:pPr marL="0" indent="0">
              <a:buNone/>
            </a:pPr>
            <a:r>
              <a:rPr lang="en-US" sz="1100" dirty="0">
                <a:solidFill>
                  <a:srgbClr val="1C2733"/>
                </a:solidFill>
                <a:latin typeface="Calibri" pitchFamily="34" charset="0"/>
                <a:ea typeface="Calibri" pitchFamily="34" charset="-122"/>
                <a:cs typeface="Calibri" pitchFamily="34" charset="-120"/>
              </a:rPr>
              <a:t>code execution</a:t>
            </a:r>
            <a:endParaRPr lang="en-US" sz="1100" dirty="0"/>
          </a:p>
        </p:txBody>
      </p:sp>
      <p:sp>
        <p:nvSpPr>
          <p:cNvPr id="16" name="Shape 14"/>
          <p:cNvSpPr/>
          <p:nvPr/>
        </p:nvSpPr>
        <p:spPr>
          <a:xfrm>
            <a:off x="9189720" y="1572768"/>
            <a:ext cx="2670048" cy="1298448"/>
          </a:xfrm>
          <a:prstGeom prst="roundRect">
            <a:avLst>
              <a:gd name="adj" fmla="val 4225"/>
            </a:avLst>
          </a:prstGeom>
          <a:solidFill>
            <a:srgbClr val="EEF4F7"/>
          </a:solidFill>
          <a:ln w="15875">
            <a:solidFill>
              <a:srgbClr val="7A2E3C"/>
            </a:solidFill>
            <a:prstDash val="solid"/>
          </a:ln>
        </p:spPr>
      </p:sp>
      <p:sp>
        <p:nvSpPr>
          <p:cNvPr id="17" name="Shape 15"/>
          <p:cNvSpPr/>
          <p:nvPr/>
        </p:nvSpPr>
        <p:spPr>
          <a:xfrm>
            <a:off x="9390888" y="1773936"/>
            <a:ext cx="173736" cy="173736"/>
          </a:xfrm>
          <a:prstGeom prst="ellipse">
            <a:avLst/>
          </a:prstGeom>
          <a:solidFill>
            <a:srgbClr val="7A2E3C"/>
          </a:solidFill>
          <a:ln w="12700">
            <a:solidFill>
              <a:srgbClr val="7A2E3C"/>
            </a:solidFill>
            <a:prstDash val="solid"/>
          </a:ln>
        </p:spPr>
      </p:sp>
      <p:sp>
        <p:nvSpPr>
          <p:cNvPr id="18" name="Text 16"/>
          <p:cNvSpPr/>
          <p:nvPr/>
        </p:nvSpPr>
        <p:spPr>
          <a:xfrm>
            <a:off x="9665208" y="1737360"/>
            <a:ext cx="2029968" cy="256032"/>
          </a:xfrm>
          <a:prstGeom prst="rect">
            <a:avLst/>
          </a:prstGeom>
          <a:noFill/>
          <a:ln/>
        </p:spPr>
        <p:txBody>
          <a:bodyPr wrap="square" lIns="0" tIns="0" rIns="0" bIns="0" rtlCol="0" anchor="ctr"/>
          <a:lstStyle/>
          <a:p>
            <a:pPr marL="0" indent="0">
              <a:buNone/>
            </a:pPr>
            <a:r>
              <a:rPr lang="en-US" sz="1150" b="1" kern="0" spc="80" dirty="0">
                <a:solidFill>
                  <a:srgbClr val="7A2E3C"/>
                </a:solidFill>
                <a:latin typeface="Calibri" pitchFamily="34" charset="0"/>
                <a:ea typeface="Calibri" pitchFamily="34" charset="-122"/>
                <a:cs typeface="Calibri" pitchFamily="34" charset="-120"/>
              </a:rPr>
              <a:t>CLAIM</a:t>
            </a:r>
            <a:endParaRPr lang="en-US" sz="1150" dirty="0"/>
          </a:p>
        </p:txBody>
      </p:sp>
      <p:sp>
        <p:nvSpPr>
          <p:cNvPr id="19" name="Text 17"/>
          <p:cNvSpPr/>
          <p:nvPr/>
        </p:nvSpPr>
        <p:spPr>
          <a:xfrm>
            <a:off x="9390888" y="2084832"/>
            <a:ext cx="2267712" cy="713232"/>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Intermediate conclusions,</a:t>
            </a:r>
            <a:endParaRPr lang="en-US" sz="1100" dirty="0"/>
          </a:p>
          <a:p>
            <a:pPr marL="0" indent="0">
              <a:buNone/>
            </a:pPr>
            <a:r>
              <a:rPr lang="en-US" sz="1100" dirty="0">
                <a:solidFill>
                  <a:srgbClr val="1C2733"/>
                </a:solidFill>
                <a:latin typeface="Calibri" pitchFamily="34" charset="0"/>
                <a:ea typeface="Calibri" pitchFamily="34" charset="-122"/>
                <a:cs typeface="Calibri" pitchFamily="34" charset="-120"/>
              </a:rPr>
              <a:t>final findings</a:t>
            </a:r>
            <a:endParaRPr lang="en-US" sz="1100" dirty="0"/>
          </a:p>
        </p:txBody>
      </p:sp>
      <p:sp>
        <p:nvSpPr>
          <p:cNvPr id="20" name="Text 18"/>
          <p:cNvSpPr/>
          <p:nvPr/>
        </p:nvSpPr>
        <p:spPr>
          <a:xfrm>
            <a:off x="548640" y="3063240"/>
            <a:ext cx="6766560" cy="274320"/>
          </a:xfrm>
          <a:prstGeom prst="rect">
            <a:avLst/>
          </a:prstGeom>
          <a:noFill/>
          <a:ln/>
        </p:spPr>
        <p:txBody>
          <a:bodyPr wrap="square" lIns="0" tIns="0" rIns="0" bIns="0" rtlCol="0" anchor="ctr"/>
          <a:lstStyle/>
          <a:p>
            <a:pPr marL="0" indent="0">
              <a:buNone/>
            </a:pPr>
            <a:r>
              <a:rPr lang="en-US" sz="1300" b="1" dirty="0">
                <a:solidFill>
                  <a:srgbClr val="17324D"/>
                </a:solidFill>
                <a:latin typeface="Calibri" pitchFamily="34" charset="0"/>
                <a:ea typeface="Calibri" pitchFamily="34" charset="-122"/>
                <a:cs typeface="Calibri" pitchFamily="34" charset="-120"/>
              </a:rPr>
              <a:t>Parents converge — that’s why it’s a graph, not a chain</a:t>
            </a:r>
            <a:endParaRPr lang="en-US" sz="1300" dirty="0"/>
          </a:p>
        </p:txBody>
      </p:sp>
      <p:sp>
        <p:nvSpPr>
          <p:cNvPr id="21" name="Shape 19"/>
          <p:cNvSpPr/>
          <p:nvPr/>
        </p:nvSpPr>
        <p:spPr>
          <a:xfrm>
            <a:off x="548640" y="3520440"/>
            <a:ext cx="1920240" cy="822960"/>
          </a:xfrm>
          <a:prstGeom prst="roundRect">
            <a:avLst>
              <a:gd name="adj" fmla="val 8889"/>
            </a:avLst>
          </a:prstGeom>
          <a:solidFill>
            <a:srgbClr val="EEF4F7"/>
          </a:solidFill>
          <a:ln w="15875">
            <a:solidFill>
              <a:srgbClr val="0E7C86"/>
            </a:solidFill>
            <a:prstDash val="solid"/>
          </a:ln>
        </p:spPr>
      </p:sp>
      <p:sp>
        <p:nvSpPr>
          <p:cNvPr id="22" name="Text 20"/>
          <p:cNvSpPr/>
          <p:nvPr/>
        </p:nvSpPr>
        <p:spPr>
          <a:xfrm>
            <a:off x="658368" y="3584448"/>
            <a:ext cx="1700784" cy="182880"/>
          </a:xfrm>
          <a:prstGeom prst="rect">
            <a:avLst/>
          </a:prstGeom>
          <a:noFill/>
          <a:ln/>
        </p:spPr>
        <p:txBody>
          <a:bodyPr wrap="square" lIns="0" tIns="0" rIns="0" bIns="0" rtlCol="0" anchor="ctr"/>
          <a:lstStyle/>
          <a:p>
            <a:pPr marL="0" indent="0">
              <a:buNone/>
            </a:pPr>
            <a:r>
              <a:rPr lang="en-US" sz="800" b="1" kern="0" spc="110" dirty="0">
                <a:solidFill>
                  <a:srgbClr val="0E7C86"/>
                </a:solidFill>
                <a:latin typeface="Calibri" pitchFamily="34" charset="0"/>
                <a:ea typeface="Calibri" pitchFamily="34" charset="-122"/>
                <a:cs typeface="Calibri" pitchFamily="34" charset="-120"/>
              </a:rPr>
              <a:t>OBSERVATION</a:t>
            </a:r>
            <a:endParaRPr lang="en-US" sz="800" dirty="0"/>
          </a:p>
        </p:txBody>
      </p:sp>
      <p:sp>
        <p:nvSpPr>
          <p:cNvPr id="23" name="Text 21"/>
          <p:cNvSpPr/>
          <p:nvPr/>
        </p:nvSpPr>
        <p:spPr>
          <a:xfrm>
            <a:off x="658368" y="3767328"/>
            <a:ext cx="1700784" cy="49377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Extracted invoice</a:t>
            </a:r>
            <a:endParaRPr lang="en-US" sz="1050" dirty="0"/>
          </a:p>
          <a:p>
            <a:pPr marL="0" indent="0">
              <a:buNone/>
            </a:pPr>
            <a:r>
              <a:rPr lang="en-US" sz="1050" b="1" dirty="0">
                <a:solidFill>
                  <a:srgbClr val="1C2733"/>
                </a:solidFill>
                <a:latin typeface="Calibri" pitchFamily="34" charset="0"/>
                <a:ea typeface="Calibri" pitchFamily="34" charset="-122"/>
                <a:cs typeface="Calibri" pitchFamily="34" charset="-120"/>
              </a:rPr>
              <a:t>amount</a:t>
            </a:r>
            <a:endParaRPr lang="en-US" sz="1050" dirty="0"/>
          </a:p>
        </p:txBody>
      </p:sp>
      <p:sp>
        <p:nvSpPr>
          <p:cNvPr id="24" name="Shape 22"/>
          <p:cNvSpPr/>
          <p:nvPr/>
        </p:nvSpPr>
        <p:spPr>
          <a:xfrm>
            <a:off x="548640" y="4617720"/>
            <a:ext cx="1920240" cy="822960"/>
          </a:xfrm>
          <a:prstGeom prst="roundRect">
            <a:avLst>
              <a:gd name="adj" fmla="val 8889"/>
            </a:avLst>
          </a:prstGeom>
          <a:solidFill>
            <a:srgbClr val="EEF4F7"/>
          </a:solidFill>
          <a:ln w="15875">
            <a:solidFill>
              <a:srgbClr val="17324D"/>
            </a:solidFill>
            <a:prstDash val="solid"/>
          </a:ln>
        </p:spPr>
      </p:sp>
      <p:sp>
        <p:nvSpPr>
          <p:cNvPr id="25" name="Text 23"/>
          <p:cNvSpPr/>
          <p:nvPr/>
        </p:nvSpPr>
        <p:spPr>
          <a:xfrm>
            <a:off x="658368" y="4681728"/>
            <a:ext cx="1700784" cy="182880"/>
          </a:xfrm>
          <a:prstGeom prst="rect">
            <a:avLst/>
          </a:prstGeom>
          <a:noFill/>
          <a:ln/>
        </p:spPr>
        <p:txBody>
          <a:bodyPr wrap="square" lIns="0" tIns="0" rIns="0" bIns="0" rtlCol="0" anchor="ctr"/>
          <a:lstStyle/>
          <a:p>
            <a:pPr marL="0" indent="0">
              <a:buNone/>
            </a:pPr>
            <a:r>
              <a:rPr lang="en-US" sz="800" b="1" kern="0" spc="110" dirty="0">
                <a:solidFill>
                  <a:srgbClr val="17324D"/>
                </a:solidFill>
                <a:latin typeface="Calibri" pitchFamily="34" charset="0"/>
                <a:ea typeface="Calibri" pitchFamily="34" charset="-122"/>
                <a:cs typeface="Calibri" pitchFamily="34" charset="-120"/>
              </a:rPr>
              <a:t>SOURCE</a:t>
            </a:r>
            <a:endParaRPr lang="en-US" sz="800" dirty="0"/>
          </a:p>
        </p:txBody>
      </p:sp>
      <p:sp>
        <p:nvSpPr>
          <p:cNvPr id="26" name="Text 24"/>
          <p:cNvSpPr/>
          <p:nvPr/>
        </p:nvSpPr>
        <p:spPr>
          <a:xfrm>
            <a:off x="658368" y="4864608"/>
            <a:ext cx="1700784" cy="49377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Purchase-order</a:t>
            </a:r>
            <a:endParaRPr lang="en-US" sz="1050" dirty="0"/>
          </a:p>
          <a:p>
            <a:pPr marL="0" indent="0">
              <a:buNone/>
            </a:pPr>
            <a:r>
              <a:rPr lang="en-US" sz="1050" b="1" dirty="0">
                <a:solidFill>
                  <a:srgbClr val="1C2733"/>
                </a:solidFill>
                <a:latin typeface="Calibri" pitchFamily="34" charset="0"/>
                <a:ea typeface="Calibri" pitchFamily="34" charset="-122"/>
                <a:cs typeface="Calibri" pitchFamily="34" charset="-120"/>
              </a:rPr>
              <a:t>record</a:t>
            </a:r>
            <a:endParaRPr lang="en-US" sz="1050" dirty="0"/>
          </a:p>
        </p:txBody>
      </p:sp>
      <p:sp>
        <p:nvSpPr>
          <p:cNvPr id="27" name="Shape 25"/>
          <p:cNvSpPr/>
          <p:nvPr/>
        </p:nvSpPr>
        <p:spPr>
          <a:xfrm>
            <a:off x="3017520" y="4069080"/>
            <a:ext cx="1828800" cy="822960"/>
          </a:xfrm>
          <a:prstGeom prst="roundRect">
            <a:avLst>
              <a:gd name="adj" fmla="val 8889"/>
            </a:avLst>
          </a:prstGeom>
          <a:solidFill>
            <a:srgbClr val="EEF4F7"/>
          </a:solidFill>
          <a:ln w="28575">
            <a:solidFill>
              <a:srgbClr val="C2700A"/>
            </a:solidFill>
            <a:prstDash val="solid"/>
          </a:ln>
        </p:spPr>
      </p:sp>
      <p:sp>
        <p:nvSpPr>
          <p:cNvPr id="28" name="Text 26"/>
          <p:cNvSpPr/>
          <p:nvPr/>
        </p:nvSpPr>
        <p:spPr>
          <a:xfrm>
            <a:off x="3127248" y="4133088"/>
            <a:ext cx="1609344" cy="182880"/>
          </a:xfrm>
          <a:prstGeom prst="rect">
            <a:avLst/>
          </a:prstGeom>
          <a:noFill/>
          <a:ln/>
        </p:spPr>
        <p:txBody>
          <a:bodyPr wrap="square" lIns="0" tIns="0" rIns="0" bIns="0" rtlCol="0" anchor="ctr"/>
          <a:lstStyle/>
          <a:p>
            <a:pPr marL="0" indent="0">
              <a:buNone/>
            </a:pPr>
            <a:r>
              <a:rPr lang="en-US" sz="800" b="1" kern="0" spc="110" dirty="0">
                <a:solidFill>
                  <a:srgbClr val="C2700A"/>
                </a:solidFill>
                <a:latin typeface="Calibri" pitchFamily="34" charset="0"/>
                <a:ea typeface="Calibri" pitchFamily="34" charset="-122"/>
                <a:cs typeface="Calibri" pitchFamily="34" charset="-120"/>
              </a:rPr>
              <a:t>ACTION</a:t>
            </a:r>
            <a:endParaRPr lang="en-US" sz="800" dirty="0"/>
          </a:p>
        </p:txBody>
      </p:sp>
      <p:sp>
        <p:nvSpPr>
          <p:cNvPr id="29" name="Text 27"/>
          <p:cNvSpPr/>
          <p:nvPr/>
        </p:nvSpPr>
        <p:spPr>
          <a:xfrm>
            <a:off x="3127248" y="4315968"/>
            <a:ext cx="1609344" cy="49377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Comparison rule</a:t>
            </a:r>
            <a:endParaRPr lang="en-US" sz="1050" dirty="0"/>
          </a:p>
        </p:txBody>
      </p:sp>
      <p:sp>
        <p:nvSpPr>
          <p:cNvPr id="30" name="Shape 28"/>
          <p:cNvSpPr/>
          <p:nvPr/>
        </p:nvSpPr>
        <p:spPr>
          <a:xfrm>
            <a:off x="5394960" y="4069080"/>
            <a:ext cx="1554480" cy="822960"/>
          </a:xfrm>
          <a:prstGeom prst="roundRect">
            <a:avLst>
              <a:gd name="adj" fmla="val 8889"/>
            </a:avLst>
          </a:prstGeom>
          <a:solidFill>
            <a:srgbClr val="EEF4F7"/>
          </a:solidFill>
          <a:ln w="15875">
            <a:solidFill>
              <a:srgbClr val="7A2E3C"/>
            </a:solidFill>
            <a:prstDash val="solid"/>
          </a:ln>
        </p:spPr>
      </p:sp>
      <p:sp>
        <p:nvSpPr>
          <p:cNvPr id="31" name="Text 29"/>
          <p:cNvSpPr/>
          <p:nvPr/>
        </p:nvSpPr>
        <p:spPr>
          <a:xfrm>
            <a:off x="5504688" y="4133088"/>
            <a:ext cx="1335024" cy="182880"/>
          </a:xfrm>
          <a:prstGeom prst="rect">
            <a:avLst/>
          </a:prstGeom>
          <a:noFill/>
          <a:ln/>
        </p:spPr>
        <p:txBody>
          <a:bodyPr wrap="square" lIns="0" tIns="0" rIns="0" bIns="0" rtlCol="0" anchor="ctr"/>
          <a:lstStyle/>
          <a:p>
            <a:pPr marL="0" indent="0">
              <a:buNone/>
            </a:pPr>
            <a:r>
              <a:rPr lang="en-US" sz="800" b="1" kern="0" spc="110" dirty="0">
                <a:solidFill>
                  <a:srgbClr val="7A2E3C"/>
                </a:solidFill>
                <a:latin typeface="Calibri" pitchFamily="34" charset="0"/>
                <a:ea typeface="Calibri" pitchFamily="34" charset="-122"/>
                <a:cs typeface="Calibri" pitchFamily="34" charset="-120"/>
              </a:rPr>
              <a:t>CLAIM</a:t>
            </a:r>
            <a:endParaRPr lang="en-US" sz="800" dirty="0"/>
          </a:p>
        </p:txBody>
      </p:sp>
      <p:sp>
        <p:nvSpPr>
          <p:cNvPr id="32" name="Text 30"/>
          <p:cNvSpPr/>
          <p:nvPr/>
        </p:nvSpPr>
        <p:spPr>
          <a:xfrm>
            <a:off x="5504688" y="4315968"/>
            <a:ext cx="1335024" cy="49377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Exception</a:t>
            </a:r>
            <a:endParaRPr lang="en-US" sz="1050" dirty="0"/>
          </a:p>
        </p:txBody>
      </p:sp>
      <p:sp>
        <p:nvSpPr>
          <p:cNvPr id="33" name="Shape 31"/>
          <p:cNvSpPr/>
          <p:nvPr/>
        </p:nvSpPr>
        <p:spPr>
          <a:xfrm>
            <a:off x="2514600" y="3931920"/>
            <a:ext cx="457200" cy="438912"/>
          </a:xfrm>
          <a:prstGeom prst="line">
            <a:avLst/>
          </a:prstGeom>
          <a:noFill/>
          <a:ln w="19050">
            <a:solidFill>
              <a:srgbClr val="5A6B7A"/>
            </a:solidFill>
            <a:prstDash val="solid"/>
            <a:headEnd type="none"/>
            <a:tailEnd type="triangle"/>
          </a:ln>
        </p:spPr>
      </p:sp>
      <p:sp>
        <p:nvSpPr>
          <p:cNvPr id="34" name="Shape 32"/>
          <p:cNvSpPr/>
          <p:nvPr/>
        </p:nvSpPr>
        <p:spPr>
          <a:xfrm flipV="1">
            <a:off x="2514600" y="4590288"/>
            <a:ext cx="457200" cy="438912"/>
          </a:xfrm>
          <a:prstGeom prst="line">
            <a:avLst/>
          </a:prstGeom>
          <a:noFill/>
          <a:ln w="19050">
            <a:solidFill>
              <a:srgbClr val="5A6B7A"/>
            </a:solidFill>
            <a:prstDash val="solid"/>
            <a:headEnd type="none"/>
            <a:tailEnd type="triangle"/>
          </a:ln>
        </p:spPr>
      </p:sp>
      <p:sp>
        <p:nvSpPr>
          <p:cNvPr id="35" name="Shape 33"/>
          <p:cNvSpPr/>
          <p:nvPr/>
        </p:nvSpPr>
        <p:spPr>
          <a:xfrm>
            <a:off x="4892040" y="4480560"/>
            <a:ext cx="457200" cy="0"/>
          </a:xfrm>
          <a:prstGeom prst="line">
            <a:avLst/>
          </a:prstGeom>
          <a:noFill/>
          <a:ln w="19050">
            <a:solidFill>
              <a:srgbClr val="5A6B7A"/>
            </a:solidFill>
            <a:prstDash val="solid"/>
            <a:headEnd type="none"/>
            <a:tailEnd type="triangle"/>
          </a:ln>
        </p:spPr>
      </p:sp>
      <p:sp>
        <p:nvSpPr>
          <p:cNvPr id="36" name="Text 34"/>
          <p:cNvSpPr/>
          <p:nvPr/>
        </p:nvSpPr>
        <p:spPr>
          <a:xfrm>
            <a:off x="3017520" y="5047488"/>
            <a:ext cx="4206240" cy="274320"/>
          </a:xfrm>
          <a:prstGeom prst="rect">
            <a:avLst/>
          </a:prstGeom>
          <a:noFill/>
          <a:ln/>
        </p:spPr>
        <p:txBody>
          <a:bodyPr wrap="square" lIns="0" tIns="0" rIns="0" bIns="0"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 which supports a finding in a workpaper</a:t>
            </a:r>
            <a:endParaRPr lang="en-US" sz="1050" dirty="0"/>
          </a:p>
        </p:txBody>
      </p:sp>
      <p:sp>
        <p:nvSpPr>
          <p:cNvPr id="37" name="Shape 35"/>
          <p:cNvSpPr/>
          <p:nvPr/>
        </p:nvSpPr>
        <p:spPr>
          <a:xfrm>
            <a:off x="7635240" y="3063240"/>
            <a:ext cx="3977640" cy="2697480"/>
          </a:xfrm>
          <a:prstGeom prst="roundRect">
            <a:avLst>
              <a:gd name="adj" fmla="val 2034"/>
            </a:avLst>
          </a:prstGeom>
          <a:solidFill>
            <a:srgbClr val="EEF4F7"/>
          </a:solidFill>
          <a:ln w="12700">
            <a:solidFill>
              <a:srgbClr val="C3D2DC"/>
            </a:solidFill>
            <a:prstDash val="solid"/>
          </a:ln>
        </p:spPr>
      </p:sp>
      <p:sp>
        <p:nvSpPr>
          <p:cNvPr id="38" name="Text 36"/>
          <p:cNvSpPr/>
          <p:nvPr/>
        </p:nvSpPr>
        <p:spPr>
          <a:xfrm>
            <a:off x="7836408" y="3209544"/>
            <a:ext cx="3575304" cy="256032"/>
          </a:xfrm>
          <a:prstGeom prst="rect">
            <a:avLst/>
          </a:prstGeom>
          <a:noFill/>
          <a:ln/>
        </p:spPr>
        <p:txBody>
          <a:bodyPr wrap="square" lIns="0" tIns="0" rIns="0" bIns="0"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Granularity is a real trade-off</a:t>
            </a:r>
            <a:endParaRPr lang="en-US" sz="1400" dirty="0"/>
          </a:p>
        </p:txBody>
      </p:sp>
      <p:sp>
        <p:nvSpPr>
          <p:cNvPr id="39" name="Text 37"/>
          <p:cNvSpPr/>
          <p:nvPr/>
        </p:nvSpPr>
        <p:spPr>
          <a:xfrm>
            <a:off x="7836408" y="3520440"/>
            <a:ext cx="3575304" cy="2093976"/>
          </a:xfrm>
          <a:prstGeom prst="rect">
            <a:avLst/>
          </a:prstGeom>
          <a:noFill/>
          <a:ln/>
        </p:spPr>
        <p:txBody>
          <a:bodyPr wrap="square" lIns="0" tIns="0" rIns="0" bIns="0" rtlCol="0" anchor="t"/>
          <a:lstStyle/>
          <a:p>
            <a:pPr marL="0" indent="0">
              <a:buNone/>
            </a:pPr>
            <a:r>
              <a:rPr lang="en-US" sz="1150" dirty="0">
                <a:solidFill>
                  <a:srgbClr val="1C2733"/>
                </a:solidFill>
                <a:latin typeface="Calibri" pitchFamily="34" charset="0"/>
                <a:ea typeface="Calibri" pitchFamily="34" charset="-122"/>
                <a:cs typeface="Calibri" pitchFamily="34" charset="-120"/>
              </a:rPr>
              <a:t>Document → paragraph → row → cell → token.</a:t>
            </a:r>
            <a:endParaRPr lang="en-US" sz="1150" dirty="0"/>
          </a:p>
          <a:p>
            <a:pPr marL="0" indent="0">
              <a:buNone/>
            </a:pP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Finer tracing gives better lineage, but costs storage, metadata, privacy exposure, and retention burden.</a:t>
            </a:r>
            <a:endParaRPr lang="en-US" sz="1150" dirty="0"/>
          </a:p>
          <a:p>
            <a:pPr marL="0" indent="0">
              <a:buNone/>
            </a:pP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Rule of thumb: claim-level lineage is more decision-relevant than token-level, and an exact source snapshot matters more than granularity on its own.</a:t>
            </a:r>
            <a:endParaRPr lang="en-US" sz="1150" dirty="0"/>
          </a:p>
        </p:txBody>
      </p:sp>
      <p:sp>
        <p:nvSpPr>
          <p:cNvPr id="40" name="Text 38"/>
          <p:cNvSpPr/>
          <p:nvPr/>
        </p:nvSpPr>
        <p:spPr>
          <a:xfrm>
            <a:off x="566928" y="6053328"/>
            <a:ext cx="11064240" cy="274320"/>
          </a:xfrm>
          <a:prstGeom prst="rect">
            <a:avLst/>
          </a:prstGeom>
          <a:noFill/>
          <a:ln/>
        </p:spPr>
        <p:txBody>
          <a:bodyPr wrap="square" lIns="0" tIns="0" rIns="0" bIns="0"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Knowing precisely which version of a cell you read beats knowing which token you attended to.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marL="0" indent="0">
              <a:buNone/>
            </a:pPr>
            <a:r>
              <a:rPr lang="en-US" sz="1100" b="1" kern="0" spc="160" dirty="0">
                <a:solidFill>
                  <a:srgbClr val="C2700A"/>
                </a:solidFill>
                <a:latin typeface="Calibri" pitchFamily="34" charset="0"/>
                <a:ea typeface="Calibri" pitchFamily="34" charset="-122"/>
                <a:cs typeface="Calibri" pitchFamily="34" charset="-120"/>
              </a:rPr>
              <a:t>THE BUILD</a:t>
            </a:r>
            <a:endParaRPr lang="en-US" sz="1100" dirty="0"/>
          </a:p>
        </p:txBody>
      </p:sp>
      <p:sp>
        <p:nvSpPr>
          <p:cNvPr id="3" name="Text 1"/>
          <p:cNvSpPr/>
          <p:nvPr/>
        </p:nvSpPr>
        <p:spPr>
          <a:xfrm>
            <a:off x="548640" y="658368"/>
            <a:ext cx="1060704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Developer view: instrument the runtime</a:t>
            </a:r>
            <a:endParaRPr lang="en-US" sz="3200" dirty="0"/>
          </a:p>
        </p:txBody>
      </p:sp>
      <p:sp>
        <p:nvSpPr>
          <p:cNvPr id="4" name="Text 2"/>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dirty="0">
                <a:solidFill>
                  <a:srgbClr val="1C2733"/>
                </a:solidFill>
                <a:latin typeface="Calibri" pitchFamily="34" charset="0"/>
                <a:ea typeface="Calibri" pitchFamily="34" charset="-122"/>
                <a:cs typeface="Calibri" pitchFamily="34" charset="-120"/>
              </a:rPr>
              <a:t>Provenance has to be attached at the runtime boundaries. It must not depend on asking the model to remember its sources in prose.</a:t>
            </a:r>
            <a:endParaRPr lang="en-US" sz="1400" dirty="0"/>
          </a:p>
        </p:txBody>
      </p:sp>
      <p:sp>
        <p:nvSpPr>
          <p:cNvPr id="5" name="Text 3"/>
          <p:cNvSpPr/>
          <p:nvPr/>
        </p:nvSpPr>
        <p:spPr>
          <a:xfrm>
            <a:off x="548640" y="2029968"/>
            <a:ext cx="6949440" cy="274320"/>
          </a:xfrm>
          <a:prstGeom prst="rect">
            <a:avLst/>
          </a:prstGeom>
          <a:noFill/>
          <a:ln/>
        </p:spPr>
        <p:txBody>
          <a:bodyPr wrap="square" lIns="0" tIns="0" rIns="0" bIns="0" rtlCol="0" anchor="ctr"/>
          <a:lstStyle/>
          <a:p>
            <a:pPr marL="0" indent="0">
              <a:buNone/>
            </a:pPr>
            <a:r>
              <a:rPr lang="en-US" sz="1300" b="1" dirty="0">
                <a:solidFill>
                  <a:srgbClr val="17324D"/>
                </a:solidFill>
                <a:latin typeface="Calibri" pitchFamily="34" charset="0"/>
                <a:ea typeface="Calibri" pitchFamily="34" charset="-122"/>
                <a:cs typeface="Calibri" pitchFamily="34" charset="-120"/>
              </a:rPr>
              <a:t>A tool call has four distinct relations — keep them apart</a:t>
            </a:r>
            <a:endParaRPr lang="en-US" sz="1300" dirty="0"/>
          </a:p>
        </p:txBody>
      </p:sp>
      <p:sp>
        <p:nvSpPr>
          <p:cNvPr id="6" name="Shape 4"/>
          <p:cNvSpPr/>
          <p:nvPr/>
        </p:nvSpPr>
        <p:spPr>
          <a:xfrm>
            <a:off x="603504" y="2578608"/>
            <a:ext cx="201168" cy="201168"/>
          </a:xfrm>
          <a:prstGeom prst="ellipse">
            <a:avLst/>
          </a:prstGeom>
          <a:solidFill>
            <a:srgbClr val="0E7C86"/>
          </a:solidFill>
          <a:ln w="12700">
            <a:solidFill>
              <a:srgbClr val="0E7C86"/>
            </a:solidFill>
            <a:prstDash val="solid"/>
          </a:ln>
        </p:spPr>
      </p:sp>
      <p:sp>
        <p:nvSpPr>
          <p:cNvPr id="7" name="Text 5"/>
          <p:cNvSpPr/>
          <p:nvPr/>
        </p:nvSpPr>
        <p:spPr>
          <a:xfrm>
            <a:off x="932688" y="2450592"/>
            <a:ext cx="1965960" cy="457200"/>
          </a:xfrm>
          <a:prstGeom prst="rect">
            <a:avLst/>
          </a:prstGeom>
          <a:noFill/>
          <a:ln/>
        </p:spPr>
        <p:txBody>
          <a:bodyPr wrap="square" lIns="0" tIns="0" rIns="0" bIns="0" rtlCol="0" anchor="ctr"/>
          <a:lstStyle/>
          <a:p>
            <a:pPr marL="0" indent="0">
              <a:buNone/>
            </a:pPr>
            <a:r>
              <a:rPr lang="en-US" sz="1250" b="1" dirty="0">
                <a:solidFill>
                  <a:srgbClr val="0E7C86"/>
                </a:solidFill>
                <a:latin typeface="Courier New" pitchFamily="34" charset="0"/>
                <a:ea typeface="Courier New" pitchFamily="34" charset="-122"/>
                <a:cs typeface="Courier New" pitchFamily="34" charset="-120"/>
              </a:rPr>
              <a:t>used</a:t>
            </a:r>
            <a:endParaRPr lang="en-US" sz="1250" dirty="0"/>
          </a:p>
        </p:txBody>
      </p:sp>
      <p:sp>
        <p:nvSpPr>
          <p:cNvPr id="8" name="Text 6"/>
          <p:cNvSpPr/>
          <p:nvPr/>
        </p:nvSpPr>
        <p:spPr>
          <a:xfrm>
            <a:off x="2926080" y="2450592"/>
            <a:ext cx="3840480" cy="457200"/>
          </a:xfrm>
          <a:prstGeom prst="rect">
            <a:avLst/>
          </a:prstGeom>
          <a:noFill/>
          <a:ln/>
        </p:spPr>
        <p:txBody>
          <a:bodyPr wrap="square" lIns="0" tIns="0" rIns="0" bIns="0" rtlCol="0" anchor="ctr"/>
          <a:lstStyle/>
          <a:p>
            <a:pPr marL="0" indent="0">
              <a:buNone/>
            </a:pPr>
            <a:r>
              <a:rPr lang="en-US" sz="1200" dirty="0">
                <a:solidFill>
                  <a:srgbClr val="1C2733"/>
                </a:solidFill>
                <a:latin typeface="Calibri" pitchFamily="34" charset="0"/>
                <a:ea typeface="Calibri" pitchFamily="34" charset="-122"/>
                <a:cs typeface="Calibri" pitchFamily="34" charset="-120"/>
              </a:rPr>
              <a:t>the inputs it consumed</a:t>
            </a:r>
            <a:endParaRPr lang="en-US" sz="1200" dirty="0"/>
          </a:p>
        </p:txBody>
      </p:sp>
      <p:sp>
        <p:nvSpPr>
          <p:cNvPr id="9" name="Shape 7"/>
          <p:cNvSpPr/>
          <p:nvPr/>
        </p:nvSpPr>
        <p:spPr>
          <a:xfrm>
            <a:off x="603504" y="3236976"/>
            <a:ext cx="201168" cy="201168"/>
          </a:xfrm>
          <a:prstGeom prst="ellipse">
            <a:avLst/>
          </a:prstGeom>
          <a:solidFill>
            <a:srgbClr val="17324D"/>
          </a:solidFill>
          <a:ln w="12700">
            <a:solidFill>
              <a:srgbClr val="17324D"/>
            </a:solidFill>
            <a:prstDash val="solid"/>
          </a:ln>
        </p:spPr>
      </p:sp>
      <p:sp>
        <p:nvSpPr>
          <p:cNvPr id="10" name="Text 8"/>
          <p:cNvSpPr/>
          <p:nvPr/>
        </p:nvSpPr>
        <p:spPr>
          <a:xfrm>
            <a:off x="932688" y="3108960"/>
            <a:ext cx="1965960" cy="457200"/>
          </a:xfrm>
          <a:prstGeom prst="rect">
            <a:avLst/>
          </a:prstGeom>
          <a:noFill/>
          <a:ln/>
        </p:spPr>
        <p:txBody>
          <a:bodyPr wrap="square" lIns="0" tIns="0" rIns="0" bIns="0" rtlCol="0" anchor="ctr"/>
          <a:lstStyle/>
          <a:p>
            <a:pPr marL="0" indent="0">
              <a:buNone/>
            </a:pPr>
            <a:r>
              <a:rPr lang="en-US" sz="1250" b="1" dirty="0">
                <a:solidFill>
                  <a:srgbClr val="17324D"/>
                </a:solidFill>
                <a:latin typeface="Courier New" pitchFamily="34" charset="0"/>
                <a:ea typeface="Courier New" pitchFamily="34" charset="-122"/>
                <a:cs typeface="Courier New" pitchFamily="34" charset="-120"/>
              </a:rPr>
              <a:t>authorized_by</a:t>
            </a:r>
            <a:endParaRPr lang="en-US" sz="1250" dirty="0"/>
          </a:p>
        </p:txBody>
      </p:sp>
      <p:sp>
        <p:nvSpPr>
          <p:cNvPr id="11" name="Text 9"/>
          <p:cNvSpPr/>
          <p:nvPr/>
        </p:nvSpPr>
        <p:spPr>
          <a:xfrm>
            <a:off x="2926080" y="3108960"/>
            <a:ext cx="3840480" cy="457200"/>
          </a:xfrm>
          <a:prstGeom prst="rect">
            <a:avLst/>
          </a:prstGeom>
          <a:noFill/>
          <a:ln/>
        </p:spPr>
        <p:txBody>
          <a:bodyPr wrap="square" lIns="0" tIns="0" rIns="0" bIns="0" rtlCol="0" anchor="ctr"/>
          <a:lstStyle/>
          <a:p>
            <a:pPr marL="0" indent="0">
              <a:buNone/>
            </a:pPr>
            <a:r>
              <a:rPr lang="en-US" sz="1200" dirty="0">
                <a:solidFill>
                  <a:srgbClr val="1C2733"/>
                </a:solidFill>
                <a:latin typeface="Calibri" pitchFamily="34" charset="0"/>
                <a:ea typeface="Calibri" pitchFamily="34" charset="-122"/>
                <a:cs typeface="Calibri" pitchFamily="34" charset="-120"/>
              </a:rPr>
              <a:t>the permission that allowed it</a:t>
            </a:r>
            <a:endParaRPr lang="en-US" sz="1200" dirty="0"/>
          </a:p>
        </p:txBody>
      </p:sp>
      <p:sp>
        <p:nvSpPr>
          <p:cNvPr id="12" name="Shape 10"/>
          <p:cNvSpPr/>
          <p:nvPr/>
        </p:nvSpPr>
        <p:spPr>
          <a:xfrm>
            <a:off x="603504" y="3895344"/>
            <a:ext cx="201168" cy="201168"/>
          </a:xfrm>
          <a:prstGeom prst="ellipse">
            <a:avLst/>
          </a:prstGeom>
          <a:solidFill>
            <a:srgbClr val="C2700A"/>
          </a:solidFill>
          <a:ln w="12700">
            <a:solidFill>
              <a:srgbClr val="C2700A"/>
            </a:solidFill>
            <a:prstDash val="solid"/>
          </a:ln>
        </p:spPr>
      </p:sp>
      <p:sp>
        <p:nvSpPr>
          <p:cNvPr id="13" name="Text 11"/>
          <p:cNvSpPr/>
          <p:nvPr/>
        </p:nvSpPr>
        <p:spPr>
          <a:xfrm>
            <a:off x="932688" y="3767328"/>
            <a:ext cx="1965960" cy="457200"/>
          </a:xfrm>
          <a:prstGeom prst="rect">
            <a:avLst/>
          </a:prstGeom>
          <a:noFill/>
          <a:ln/>
        </p:spPr>
        <p:txBody>
          <a:bodyPr wrap="square" lIns="0" tIns="0" rIns="0" bIns="0" rtlCol="0" anchor="ctr"/>
          <a:lstStyle/>
          <a:p>
            <a:pPr marL="0" indent="0">
              <a:buNone/>
            </a:pPr>
            <a:r>
              <a:rPr lang="en-US" sz="1250" b="1" dirty="0">
                <a:solidFill>
                  <a:srgbClr val="C2700A"/>
                </a:solidFill>
                <a:latin typeface="Courier New" pitchFamily="34" charset="0"/>
                <a:ea typeface="Courier New" pitchFamily="34" charset="-122"/>
                <a:cs typeface="Courier New" pitchFamily="34" charset="-120"/>
              </a:rPr>
              <a:t>triggered_by</a:t>
            </a:r>
            <a:endParaRPr lang="en-US" sz="1250" dirty="0"/>
          </a:p>
        </p:txBody>
      </p:sp>
      <p:sp>
        <p:nvSpPr>
          <p:cNvPr id="14" name="Text 12"/>
          <p:cNvSpPr/>
          <p:nvPr/>
        </p:nvSpPr>
        <p:spPr>
          <a:xfrm>
            <a:off x="2926080" y="3767328"/>
            <a:ext cx="3840480" cy="457200"/>
          </a:xfrm>
          <a:prstGeom prst="rect">
            <a:avLst/>
          </a:prstGeom>
          <a:noFill/>
          <a:ln/>
        </p:spPr>
        <p:txBody>
          <a:bodyPr wrap="square" lIns="0" tIns="0" rIns="0" bIns="0" rtlCol="0" anchor="ctr"/>
          <a:lstStyle/>
          <a:p>
            <a:pPr marL="0" indent="0">
              <a:buNone/>
            </a:pPr>
            <a:r>
              <a:rPr lang="en-US" sz="1200" dirty="0">
                <a:solidFill>
                  <a:srgbClr val="1C2733"/>
                </a:solidFill>
                <a:latin typeface="Calibri" pitchFamily="34" charset="0"/>
                <a:ea typeface="Calibri" pitchFamily="34" charset="-122"/>
                <a:cs typeface="Calibri" pitchFamily="34" charset="-120"/>
              </a:rPr>
              <a:t>the event that caused it to run</a:t>
            </a:r>
            <a:endParaRPr lang="en-US" sz="1200" dirty="0"/>
          </a:p>
        </p:txBody>
      </p:sp>
      <p:sp>
        <p:nvSpPr>
          <p:cNvPr id="15" name="Shape 13"/>
          <p:cNvSpPr/>
          <p:nvPr/>
        </p:nvSpPr>
        <p:spPr>
          <a:xfrm>
            <a:off x="603504" y="4553712"/>
            <a:ext cx="201168" cy="201168"/>
          </a:xfrm>
          <a:prstGeom prst="ellipse">
            <a:avLst/>
          </a:prstGeom>
          <a:solidFill>
            <a:srgbClr val="7A2E3C"/>
          </a:solidFill>
          <a:ln w="12700">
            <a:solidFill>
              <a:srgbClr val="7A2E3C"/>
            </a:solidFill>
            <a:prstDash val="solid"/>
          </a:ln>
        </p:spPr>
      </p:sp>
      <p:sp>
        <p:nvSpPr>
          <p:cNvPr id="16" name="Text 14"/>
          <p:cNvSpPr/>
          <p:nvPr/>
        </p:nvSpPr>
        <p:spPr>
          <a:xfrm>
            <a:off x="932688" y="4425696"/>
            <a:ext cx="1965960" cy="457200"/>
          </a:xfrm>
          <a:prstGeom prst="rect">
            <a:avLst/>
          </a:prstGeom>
          <a:noFill/>
          <a:ln/>
        </p:spPr>
        <p:txBody>
          <a:bodyPr wrap="square" lIns="0" tIns="0" rIns="0" bIns="0" rtlCol="0" anchor="ctr"/>
          <a:lstStyle/>
          <a:p>
            <a:pPr marL="0" indent="0">
              <a:buNone/>
            </a:pPr>
            <a:r>
              <a:rPr lang="en-US" sz="1250" b="1" dirty="0">
                <a:solidFill>
                  <a:srgbClr val="7A2E3C"/>
                </a:solidFill>
                <a:latin typeface="Courier New" pitchFamily="34" charset="0"/>
                <a:ea typeface="Courier New" pitchFamily="34" charset="-122"/>
                <a:cs typeface="Courier New" pitchFamily="34" charset="-120"/>
              </a:rPr>
              <a:t>produced</a:t>
            </a:r>
            <a:endParaRPr lang="en-US" sz="1250" dirty="0"/>
          </a:p>
        </p:txBody>
      </p:sp>
      <p:sp>
        <p:nvSpPr>
          <p:cNvPr id="17" name="Text 15"/>
          <p:cNvSpPr/>
          <p:nvPr/>
        </p:nvSpPr>
        <p:spPr>
          <a:xfrm>
            <a:off x="2926080" y="4425696"/>
            <a:ext cx="3840480" cy="457200"/>
          </a:xfrm>
          <a:prstGeom prst="rect">
            <a:avLst/>
          </a:prstGeom>
          <a:noFill/>
          <a:ln/>
        </p:spPr>
        <p:txBody>
          <a:bodyPr wrap="square" lIns="0" tIns="0" rIns="0" bIns="0" rtlCol="0" anchor="ctr"/>
          <a:lstStyle/>
          <a:p>
            <a:pPr marL="0" indent="0">
              <a:buNone/>
            </a:pPr>
            <a:r>
              <a:rPr lang="en-US" sz="1200" dirty="0">
                <a:solidFill>
                  <a:srgbClr val="1C2733"/>
                </a:solidFill>
                <a:latin typeface="Calibri" pitchFamily="34" charset="0"/>
                <a:ea typeface="Calibri" pitchFamily="34" charset="-122"/>
                <a:cs typeface="Calibri" pitchFamily="34" charset="-120"/>
              </a:rPr>
              <a:t>the outputs it created</a:t>
            </a:r>
            <a:endParaRPr lang="en-US" sz="1200" dirty="0"/>
          </a:p>
        </p:txBody>
      </p:sp>
      <p:sp>
        <p:nvSpPr>
          <p:cNvPr id="18" name="Text 16"/>
          <p:cNvSpPr/>
          <p:nvPr/>
        </p:nvSpPr>
        <p:spPr>
          <a:xfrm>
            <a:off x="603504" y="5230368"/>
            <a:ext cx="6309360" cy="274320"/>
          </a:xfrm>
          <a:prstGeom prst="rect">
            <a:avLst/>
          </a:prstGeom>
          <a:noFill/>
          <a:ln/>
        </p:spPr>
        <p:txBody>
          <a:bodyPr wrap="square" lIns="0" tIns="0" rIns="0" bIns="0"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A value can be an input to an action without justifying or authorizing it.</a:t>
            </a:r>
            <a:endParaRPr lang="en-US" sz="1050" dirty="0"/>
          </a:p>
        </p:txBody>
      </p:sp>
      <p:sp>
        <p:nvSpPr>
          <p:cNvPr id="19" name="Shape 17"/>
          <p:cNvSpPr/>
          <p:nvPr/>
        </p:nvSpPr>
        <p:spPr>
          <a:xfrm>
            <a:off x="7315200" y="2029968"/>
            <a:ext cx="4297680" cy="3054096"/>
          </a:xfrm>
          <a:prstGeom prst="roundRect">
            <a:avLst>
              <a:gd name="adj" fmla="val 1796"/>
            </a:avLst>
          </a:prstGeom>
          <a:solidFill>
            <a:srgbClr val="EEF4F7"/>
          </a:solidFill>
          <a:ln w="12700">
            <a:solidFill>
              <a:srgbClr val="C3D2DC"/>
            </a:solidFill>
            <a:prstDash val="solid"/>
          </a:ln>
        </p:spPr>
      </p:sp>
      <p:sp>
        <p:nvSpPr>
          <p:cNvPr id="20" name="Text 18"/>
          <p:cNvSpPr/>
          <p:nvPr/>
        </p:nvSpPr>
        <p:spPr>
          <a:xfrm>
            <a:off x="7516368" y="2176272"/>
            <a:ext cx="3895344" cy="256032"/>
          </a:xfrm>
          <a:prstGeom prst="rect">
            <a:avLst/>
          </a:prstGeom>
          <a:noFill/>
          <a:ln/>
        </p:spPr>
        <p:txBody>
          <a:bodyPr wrap="square" lIns="0" tIns="0" rIns="0" bIns="0"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Minimum captured per node</a:t>
            </a:r>
            <a:endParaRPr lang="en-US" sz="1400" dirty="0"/>
          </a:p>
        </p:txBody>
      </p:sp>
      <p:sp>
        <p:nvSpPr>
          <p:cNvPr id="21" name="Text 19"/>
          <p:cNvSpPr/>
          <p:nvPr/>
        </p:nvSpPr>
        <p:spPr>
          <a:xfrm>
            <a:off x="7516368" y="2487168"/>
            <a:ext cx="3895344" cy="2450592"/>
          </a:xfrm>
          <a:prstGeom prst="rect">
            <a:avLst/>
          </a:prstGeom>
          <a:noFill/>
          <a:ln/>
        </p:spPr>
        <p:txBody>
          <a:bodyPr wrap="square" lIns="0" tIns="0" rIns="0" bIns="0" rtlCol="0" anchor="t"/>
          <a:lstStyle/>
          <a:p>
            <a:pPr marL="0" indent="0">
              <a:buNone/>
            </a:pPr>
            <a:r>
              <a:rPr lang="en-US" sz="1150" dirty="0">
                <a:solidFill>
                  <a:srgbClr val="1C2733"/>
                </a:solidFill>
                <a:latin typeface="Calibri" pitchFamily="34" charset="0"/>
                <a:ea typeface="Calibri" pitchFamily="34" charset="-122"/>
                <a:cs typeface="Calibri" pitchFamily="34" charset="-120"/>
              </a:rPr>
              <a:t>•  Stable node ID</a:t>
            </a: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  Node type</a:t>
            </a: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  Parent IDs with meaningful edge labels</a:t>
            </a: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  Source locator — file, page, row, cell</a:t>
            </a: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  Version of the tool or model involved</a:t>
            </a:r>
            <a:endParaRPr lang="en-US" sz="1150" dirty="0"/>
          </a:p>
          <a:p>
            <a:pPr marL="0" indent="0">
              <a:buNone/>
            </a:pP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Store tool arguments by reference, not by value. The graph should point at evidence, not duplicate it — that keeps it queryable and keeps sensitive content in one governed place.</a:t>
            </a:r>
            <a:endParaRPr lang="en-US" sz="1150" dirty="0"/>
          </a:p>
        </p:txBody>
      </p:sp>
      <p:sp>
        <p:nvSpPr>
          <p:cNvPr id="22" name="Shape 20"/>
          <p:cNvSpPr/>
          <p:nvPr/>
        </p:nvSpPr>
        <p:spPr>
          <a:xfrm>
            <a:off x="548640" y="5742432"/>
            <a:ext cx="11064240" cy="658368"/>
          </a:xfrm>
          <a:prstGeom prst="roundRect">
            <a:avLst>
              <a:gd name="adj" fmla="val 8333"/>
            </a:avLst>
          </a:prstGeom>
          <a:solidFill>
            <a:srgbClr val="17324D"/>
          </a:solidFill>
          <a:ln w="12700">
            <a:solidFill>
              <a:srgbClr val="17324D"/>
            </a:solidFill>
            <a:prstDash val="solid"/>
          </a:ln>
        </p:spPr>
      </p:sp>
      <p:sp>
        <p:nvSpPr>
          <p:cNvPr id="23" name="Text 21"/>
          <p:cNvSpPr/>
          <p:nvPr/>
        </p:nvSpPr>
        <p:spPr>
          <a:xfrm>
            <a:off x="822960" y="5742432"/>
            <a:ext cx="10515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Attach provenance mechanically as data moves. Don’t make traceability depend on the model writing a good explanation afterwards.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marL="0" indent="0">
              <a:buNone/>
            </a:pPr>
            <a:r>
              <a:rPr lang="en-US" sz="1100" b="1" kern="0" spc="160" dirty="0">
                <a:solidFill>
                  <a:srgbClr val="C2700A"/>
                </a:solidFill>
                <a:latin typeface="Calibri" pitchFamily="34" charset="0"/>
                <a:ea typeface="Calibri" pitchFamily="34" charset="-122"/>
                <a:cs typeface="Calibri" pitchFamily="34" charset="-120"/>
              </a:rPr>
              <a:t>THE EXAMPLE</a:t>
            </a:r>
            <a:endParaRPr lang="en-US" sz="1100" dirty="0"/>
          </a:p>
        </p:txBody>
      </p:sp>
      <p:sp>
        <p:nvSpPr>
          <p:cNvPr id="3" name="Text 1"/>
          <p:cNvSpPr/>
          <p:nvPr/>
        </p:nvSpPr>
        <p:spPr>
          <a:xfrm>
            <a:off x="548640" y="658368"/>
            <a:ext cx="1060704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Worked audit example</a:t>
            </a:r>
            <a:endParaRPr lang="en-US" sz="3200" dirty="0"/>
          </a:p>
        </p:txBody>
      </p:sp>
      <p:sp>
        <p:nvSpPr>
          <p:cNvPr id="4" name="Shape 2"/>
          <p:cNvSpPr/>
          <p:nvPr/>
        </p:nvSpPr>
        <p:spPr>
          <a:xfrm>
            <a:off x="548640" y="1627632"/>
            <a:ext cx="1783080" cy="868680"/>
          </a:xfrm>
          <a:prstGeom prst="roundRect">
            <a:avLst>
              <a:gd name="adj" fmla="val 8421"/>
            </a:avLst>
          </a:prstGeom>
          <a:solidFill>
            <a:srgbClr val="EEF4F7"/>
          </a:solidFill>
          <a:ln w="15875">
            <a:solidFill>
              <a:srgbClr val="17324D"/>
            </a:solidFill>
            <a:prstDash val="solid"/>
          </a:ln>
        </p:spPr>
      </p:sp>
      <p:sp>
        <p:nvSpPr>
          <p:cNvPr id="5" name="Text 3"/>
          <p:cNvSpPr/>
          <p:nvPr/>
        </p:nvSpPr>
        <p:spPr>
          <a:xfrm>
            <a:off x="658368" y="1691640"/>
            <a:ext cx="1563624" cy="182880"/>
          </a:xfrm>
          <a:prstGeom prst="rect">
            <a:avLst/>
          </a:prstGeom>
          <a:noFill/>
          <a:ln/>
        </p:spPr>
        <p:txBody>
          <a:bodyPr wrap="square" lIns="0" tIns="0" rIns="0" bIns="0" rtlCol="0" anchor="ctr"/>
          <a:lstStyle/>
          <a:p>
            <a:pPr marL="0" indent="0">
              <a:buNone/>
            </a:pPr>
            <a:r>
              <a:rPr lang="en-US" sz="800" b="1" kern="0" spc="110" dirty="0">
                <a:solidFill>
                  <a:srgbClr val="17324D"/>
                </a:solidFill>
                <a:latin typeface="Calibri" pitchFamily="34" charset="0"/>
                <a:ea typeface="Calibri" pitchFamily="34" charset="-122"/>
                <a:cs typeface="Calibri" pitchFamily="34" charset="-120"/>
              </a:rPr>
              <a:t>SOURCE</a:t>
            </a:r>
            <a:endParaRPr lang="en-US" sz="800" dirty="0"/>
          </a:p>
        </p:txBody>
      </p:sp>
      <p:sp>
        <p:nvSpPr>
          <p:cNvPr id="6" name="Text 4"/>
          <p:cNvSpPr/>
          <p:nvPr/>
        </p:nvSpPr>
        <p:spPr>
          <a:xfrm>
            <a:off x="658368" y="1874520"/>
            <a:ext cx="1563624" cy="53949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Invoice PDF,</a:t>
            </a:r>
            <a:endParaRPr lang="en-US" sz="1050" dirty="0"/>
          </a:p>
          <a:p>
            <a:pPr marL="0" indent="0">
              <a:buNone/>
            </a:pPr>
            <a:r>
              <a:rPr lang="en-US" sz="1050" b="1" dirty="0">
                <a:solidFill>
                  <a:srgbClr val="1C2733"/>
                </a:solidFill>
                <a:latin typeface="Calibri" pitchFamily="34" charset="0"/>
                <a:ea typeface="Calibri" pitchFamily="34" charset="-122"/>
                <a:cs typeface="Calibri" pitchFamily="34" charset="-120"/>
              </a:rPr>
              <a:t>page 2</a:t>
            </a:r>
            <a:endParaRPr lang="en-US" sz="1050" dirty="0"/>
          </a:p>
        </p:txBody>
      </p:sp>
      <p:sp>
        <p:nvSpPr>
          <p:cNvPr id="7" name="Shape 5"/>
          <p:cNvSpPr/>
          <p:nvPr/>
        </p:nvSpPr>
        <p:spPr>
          <a:xfrm>
            <a:off x="2834640" y="1627632"/>
            <a:ext cx="1874520" cy="868680"/>
          </a:xfrm>
          <a:prstGeom prst="roundRect">
            <a:avLst>
              <a:gd name="adj" fmla="val 8421"/>
            </a:avLst>
          </a:prstGeom>
          <a:solidFill>
            <a:srgbClr val="EEF4F7"/>
          </a:solidFill>
          <a:ln w="15875">
            <a:solidFill>
              <a:srgbClr val="0E7C86"/>
            </a:solidFill>
            <a:prstDash val="solid"/>
          </a:ln>
        </p:spPr>
      </p:sp>
      <p:sp>
        <p:nvSpPr>
          <p:cNvPr id="8" name="Text 6"/>
          <p:cNvSpPr/>
          <p:nvPr/>
        </p:nvSpPr>
        <p:spPr>
          <a:xfrm>
            <a:off x="2944368" y="1691640"/>
            <a:ext cx="1655064" cy="182880"/>
          </a:xfrm>
          <a:prstGeom prst="rect">
            <a:avLst/>
          </a:prstGeom>
          <a:noFill/>
          <a:ln/>
        </p:spPr>
        <p:txBody>
          <a:bodyPr wrap="square" lIns="0" tIns="0" rIns="0" bIns="0" rtlCol="0" anchor="ctr"/>
          <a:lstStyle/>
          <a:p>
            <a:pPr marL="0" indent="0">
              <a:buNone/>
            </a:pPr>
            <a:r>
              <a:rPr lang="en-US" sz="800" b="1" kern="0" spc="110" dirty="0">
                <a:solidFill>
                  <a:srgbClr val="0E7C86"/>
                </a:solidFill>
                <a:latin typeface="Calibri" pitchFamily="34" charset="0"/>
                <a:ea typeface="Calibri" pitchFamily="34" charset="-122"/>
                <a:cs typeface="Calibri" pitchFamily="34" charset="-120"/>
              </a:rPr>
              <a:t>OBSERVATION</a:t>
            </a:r>
            <a:endParaRPr lang="en-US" sz="800" dirty="0"/>
          </a:p>
        </p:txBody>
      </p:sp>
      <p:sp>
        <p:nvSpPr>
          <p:cNvPr id="9" name="Text 7"/>
          <p:cNvSpPr/>
          <p:nvPr/>
        </p:nvSpPr>
        <p:spPr>
          <a:xfrm>
            <a:off x="2944368" y="1874520"/>
            <a:ext cx="1655064" cy="53949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Extracted amount</a:t>
            </a:r>
            <a:endParaRPr lang="en-US" sz="1050" dirty="0"/>
          </a:p>
          <a:p>
            <a:pPr marL="0" indent="0">
              <a:buNone/>
            </a:pPr>
            <a:r>
              <a:rPr lang="en-US" sz="1050" b="1" dirty="0">
                <a:solidFill>
                  <a:srgbClr val="1C2733"/>
                </a:solidFill>
                <a:latin typeface="Calibri" pitchFamily="34" charset="0"/>
                <a:ea typeface="Calibri" pitchFamily="34" charset="-122"/>
                <a:cs typeface="Calibri" pitchFamily="34" charset="-120"/>
              </a:rPr>
              <a:t>$12,480</a:t>
            </a:r>
            <a:endParaRPr lang="en-US" sz="1050" dirty="0"/>
          </a:p>
        </p:txBody>
      </p:sp>
      <p:sp>
        <p:nvSpPr>
          <p:cNvPr id="10" name="Shape 8"/>
          <p:cNvSpPr/>
          <p:nvPr/>
        </p:nvSpPr>
        <p:spPr>
          <a:xfrm>
            <a:off x="548640" y="2862072"/>
            <a:ext cx="1783080" cy="868680"/>
          </a:xfrm>
          <a:prstGeom prst="roundRect">
            <a:avLst>
              <a:gd name="adj" fmla="val 8421"/>
            </a:avLst>
          </a:prstGeom>
          <a:solidFill>
            <a:srgbClr val="EEF4F7"/>
          </a:solidFill>
          <a:ln w="15875">
            <a:solidFill>
              <a:srgbClr val="17324D"/>
            </a:solidFill>
            <a:prstDash val="solid"/>
          </a:ln>
        </p:spPr>
      </p:sp>
      <p:sp>
        <p:nvSpPr>
          <p:cNvPr id="11" name="Text 9"/>
          <p:cNvSpPr/>
          <p:nvPr/>
        </p:nvSpPr>
        <p:spPr>
          <a:xfrm>
            <a:off x="658368" y="2926080"/>
            <a:ext cx="1563624" cy="182880"/>
          </a:xfrm>
          <a:prstGeom prst="rect">
            <a:avLst/>
          </a:prstGeom>
          <a:noFill/>
          <a:ln/>
        </p:spPr>
        <p:txBody>
          <a:bodyPr wrap="square" lIns="0" tIns="0" rIns="0" bIns="0" rtlCol="0" anchor="ctr"/>
          <a:lstStyle/>
          <a:p>
            <a:pPr marL="0" indent="0">
              <a:buNone/>
            </a:pPr>
            <a:r>
              <a:rPr lang="en-US" sz="800" b="1" kern="0" spc="110" dirty="0">
                <a:solidFill>
                  <a:srgbClr val="17324D"/>
                </a:solidFill>
                <a:latin typeface="Calibri" pitchFamily="34" charset="0"/>
                <a:ea typeface="Calibri" pitchFamily="34" charset="-122"/>
                <a:cs typeface="Calibri" pitchFamily="34" charset="-120"/>
              </a:rPr>
              <a:t>SOURCE</a:t>
            </a:r>
            <a:endParaRPr lang="en-US" sz="800" dirty="0"/>
          </a:p>
        </p:txBody>
      </p:sp>
      <p:sp>
        <p:nvSpPr>
          <p:cNvPr id="12" name="Text 10"/>
          <p:cNvSpPr/>
          <p:nvPr/>
        </p:nvSpPr>
        <p:spPr>
          <a:xfrm>
            <a:off x="658368" y="3108960"/>
            <a:ext cx="1563624" cy="539496"/>
          </a:xfrm>
          <a:prstGeom prst="rect">
            <a:avLst/>
          </a:prstGeom>
          <a:noFill/>
          <a:ln/>
        </p:spPr>
        <p:txBody>
          <a:bodyPr wrap="square" lIns="0" tIns="0" rIns="0" bIns="0" rtlCol="0" anchor="t"/>
          <a:lstStyle/>
          <a:p>
            <a:pPr marL="0" indent="0">
              <a:buNone/>
            </a:pPr>
            <a:r>
              <a:rPr lang="en-US" sz="950" b="1" dirty="0">
                <a:solidFill>
                  <a:srgbClr val="1C2733"/>
                </a:solidFill>
                <a:latin typeface="Calibri" pitchFamily="34" charset="0"/>
                <a:ea typeface="Calibri" pitchFamily="34" charset="-122"/>
                <a:cs typeface="Calibri" pitchFamily="34" charset="-120"/>
              </a:rPr>
              <a:t>PO master-data row</a:t>
            </a:r>
            <a:endParaRPr lang="en-US" sz="950" dirty="0"/>
          </a:p>
          <a:p>
            <a:pPr marL="0" indent="0">
              <a:buNone/>
            </a:pPr>
            <a:r>
              <a:rPr lang="en-US" sz="950" b="1" dirty="0">
                <a:solidFill>
                  <a:srgbClr val="1C2733"/>
                </a:solidFill>
                <a:latin typeface="Calibri" pitchFamily="34" charset="0"/>
                <a:ea typeface="Calibri" pitchFamily="34" charset="-122"/>
                <a:cs typeface="Calibri" pitchFamily="34" charset="-120"/>
              </a:rPr>
              <a:t>table · key · timestamp</a:t>
            </a:r>
            <a:endParaRPr lang="en-US" sz="950" dirty="0"/>
          </a:p>
        </p:txBody>
      </p:sp>
      <p:sp>
        <p:nvSpPr>
          <p:cNvPr id="13" name="Shape 11"/>
          <p:cNvSpPr/>
          <p:nvPr/>
        </p:nvSpPr>
        <p:spPr>
          <a:xfrm>
            <a:off x="5257800" y="2240280"/>
            <a:ext cx="1828800" cy="868680"/>
          </a:xfrm>
          <a:prstGeom prst="roundRect">
            <a:avLst>
              <a:gd name="adj" fmla="val 8421"/>
            </a:avLst>
          </a:prstGeom>
          <a:solidFill>
            <a:srgbClr val="EEF4F7"/>
          </a:solidFill>
          <a:ln w="28575">
            <a:solidFill>
              <a:srgbClr val="C2700A"/>
            </a:solidFill>
            <a:prstDash val="solid"/>
          </a:ln>
        </p:spPr>
      </p:sp>
      <p:sp>
        <p:nvSpPr>
          <p:cNvPr id="14" name="Text 12"/>
          <p:cNvSpPr/>
          <p:nvPr/>
        </p:nvSpPr>
        <p:spPr>
          <a:xfrm>
            <a:off x="5367528" y="2304288"/>
            <a:ext cx="1609344" cy="182880"/>
          </a:xfrm>
          <a:prstGeom prst="rect">
            <a:avLst/>
          </a:prstGeom>
          <a:noFill/>
          <a:ln/>
        </p:spPr>
        <p:txBody>
          <a:bodyPr wrap="square" lIns="0" tIns="0" rIns="0" bIns="0" rtlCol="0" anchor="ctr"/>
          <a:lstStyle/>
          <a:p>
            <a:pPr marL="0" indent="0">
              <a:buNone/>
            </a:pPr>
            <a:r>
              <a:rPr lang="en-US" sz="800" b="1" kern="0" spc="110" dirty="0">
                <a:solidFill>
                  <a:srgbClr val="C2700A"/>
                </a:solidFill>
                <a:latin typeface="Calibri" pitchFamily="34" charset="0"/>
                <a:ea typeface="Calibri" pitchFamily="34" charset="-122"/>
                <a:cs typeface="Calibri" pitchFamily="34" charset="-120"/>
              </a:rPr>
              <a:t>ACTION</a:t>
            </a:r>
            <a:endParaRPr lang="en-US" sz="800" dirty="0"/>
          </a:p>
        </p:txBody>
      </p:sp>
      <p:sp>
        <p:nvSpPr>
          <p:cNvPr id="15" name="Text 13"/>
          <p:cNvSpPr/>
          <p:nvPr/>
        </p:nvSpPr>
        <p:spPr>
          <a:xfrm>
            <a:off x="5367528" y="2487168"/>
            <a:ext cx="1609344" cy="53949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Comparison rule</a:t>
            </a:r>
            <a:endParaRPr lang="en-US" sz="1050" dirty="0"/>
          </a:p>
          <a:p>
            <a:pPr marL="0" indent="0">
              <a:buNone/>
            </a:pPr>
            <a:r>
              <a:rPr lang="en-US" sz="1050" b="1" dirty="0">
                <a:solidFill>
                  <a:srgbClr val="1C2733"/>
                </a:solidFill>
                <a:latin typeface="Calibri" pitchFamily="34" charset="0"/>
                <a:ea typeface="Calibri" pitchFamily="34" charset="-122"/>
                <a:cs typeface="Calibri" pitchFamily="34" charset="-120"/>
              </a:rPr>
              <a:t>v2.1</a:t>
            </a:r>
            <a:endParaRPr lang="en-US" sz="1050" dirty="0"/>
          </a:p>
        </p:txBody>
      </p:sp>
      <p:sp>
        <p:nvSpPr>
          <p:cNvPr id="16" name="Shape 14"/>
          <p:cNvSpPr/>
          <p:nvPr/>
        </p:nvSpPr>
        <p:spPr>
          <a:xfrm>
            <a:off x="7635240" y="2240280"/>
            <a:ext cx="1691640" cy="868680"/>
          </a:xfrm>
          <a:prstGeom prst="roundRect">
            <a:avLst>
              <a:gd name="adj" fmla="val 8421"/>
            </a:avLst>
          </a:prstGeom>
          <a:solidFill>
            <a:srgbClr val="EEF4F7"/>
          </a:solidFill>
          <a:ln w="15875">
            <a:solidFill>
              <a:srgbClr val="7A2E3C"/>
            </a:solidFill>
            <a:prstDash val="solid"/>
          </a:ln>
        </p:spPr>
      </p:sp>
      <p:sp>
        <p:nvSpPr>
          <p:cNvPr id="17" name="Text 15"/>
          <p:cNvSpPr/>
          <p:nvPr/>
        </p:nvSpPr>
        <p:spPr>
          <a:xfrm>
            <a:off x="7744968" y="2304288"/>
            <a:ext cx="1472184" cy="182880"/>
          </a:xfrm>
          <a:prstGeom prst="rect">
            <a:avLst/>
          </a:prstGeom>
          <a:noFill/>
          <a:ln/>
        </p:spPr>
        <p:txBody>
          <a:bodyPr wrap="square" lIns="0" tIns="0" rIns="0" bIns="0" rtlCol="0" anchor="ctr"/>
          <a:lstStyle/>
          <a:p>
            <a:pPr marL="0" indent="0">
              <a:buNone/>
            </a:pPr>
            <a:r>
              <a:rPr lang="en-US" sz="800" b="1" kern="0" spc="110" dirty="0">
                <a:solidFill>
                  <a:srgbClr val="7A2E3C"/>
                </a:solidFill>
                <a:latin typeface="Calibri" pitchFamily="34" charset="0"/>
                <a:ea typeface="Calibri" pitchFamily="34" charset="-122"/>
                <a:cs typeface="Calibri" pitchFamily="34" charset="-120"/>
              </a:rPr>
              <a:t>CLAIM</a:t>
            </a:r>
            <a:endParaRPr lang="en-US" sz="800" dirty="0"/>
          </a:p>
        </p:txBody>
      </p:sp>
      <p:sp>
        <p:nvSpPr>
          <p:cNvPr id="18" name="Text 16"/>
          <p:cNvSpPr/>
          <p:nvPr/>
        </p:nvSpPr>
        <p:spPr>
          <a:xfrm>
            <a:off x="7744968" y="2487168"/>
            <a:ext cx="1472184" cy="53949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Anomaly flag</a:t>
            </a:r>
            <a:endParaRPr lang="en-US" sz="1050" dirty="0"/>
          </a:p>
        </p:txBody>
      </p:sp>
      <p:sp>
        <p:nvSpPr>
          <p:cNvPr id="19" name="Shape 17"/>
          <p:cNvSpPr/>
          <p:nvPr/>
        </p:nvSpPr>
        <p:spPr>
          <a:xfrm>
            <a:off x="9875520" y="2240280"/>
            <a:ext cx="1737360" cy="868680"/>
          </a:xfrm>
          <a:prstGeom prst="roundRect">
            <a:avLst>
              <a:gd name="adj" fmla="val 8421"/>
            </a:avLst>
          </a:prstGeom>
          <a:solidFill>
            <a:srgbClr val="EEF4F7"/>
          </a:solidFill>
          <a:ln w="15875">
            <a:solidFill>
              <a:srgbClr val="7A2E3C"/>
            </a:solidFill>
            <a:prstDash val="solid"/>
          </a:ln>
        </p:spPr>
      </p:sp>
      <p:sp>
        <p:nvSpPr>
          <p:cNvPr id="20" name="Text 18"/>
          <p:cNvSpPr/>
          <p:nvPr/>
        </p:nvSpPr>
        <p:spPr>
          <a:xfrm>
            <a:off x="9985248" y="2304288"/>
            <a:ext cx="1517904" cy="182880"/>
          </a:xfrm>
          <a:prstGeom prst="rect">
            <a:avLst/>
          </a:prstGeom>
          <a:noFill/>
          <a:ln/>
        </p:spPr>
        <p:txBody>
          <a:bodyPr wrap="square" lIns="0" tIns="0" rIns="0" bIns="0" rtlCol="0" anchor="ctr"/>
          <a:lstStyle/>
          <a:p>
            <a:pPr marL="0" indent="0">
              <a:buNone/>
            </a:pPr>
            <a:r>
              <a:rPr lang="en-US" sz="800" b="1" kern="0" spc="110" dirty="0">
                <a:solidFill>
                  <a:srgbClr val="7A2E3C"/>
                </a:solidFill>
                <a:latin typeface="Calibri" pitchFamily="34" charset="0"/>
                <a:ea typeface="Calibri" pitchFamily="34" charset="-122"/>
                <a:cs typeface="Calibri" pitchFamily="34" charset="-120"/>
              </a:rPr>
              <a:t>CLAIM</a:t>
            </a:r>
            <a:endParaRPr lang="en-US" sz="800" dirty="0"/>
          </a:p>
        </p:txBody>
      </p:sp>
      <p:sp>
        <p:nvSpPr>
          <p:cNvPr id="21" name="Text 19"/>
          <p:cNvSpPr/>
          <p:nvPr/>
        </p:nvSpPr>
        <p:spPr>
          <a:xfrm>
            <a:off x="9985248" y="2487168"/>
            <a:ext cx="1517904" cy="539496"/>
          </a:xfrm>
          <a:prstGeom prst="rect">
            <a:avLst/>
          </a:prstGeom>
          <a:noFill/>
          <a:ln/>
        </p:spPr>
        <p:txBody>
          <a:bodyPr wrap="square" lIns="0" tIns="0" rIns="0" bIns="0" rtlCol="0" anchor="t"/>
          <a:lstStyle/>
          <a:p>
            <a:pPr marL="0" indent="0">
              <a:buNone/>
            </a:pPr>
            <a:r>
              <a:rPr lang="en-US" sz="1050" b="1" dirty="0">
                <a:solidFill>
                  <a:srgbClr val="1C2733"/>
                </a:solidFill>
                <a:latin typeface="Calibri" pitchFamily="34" charset="0"/>
                <a:ea typeface="Calibri" pitchFamily="34" charset="-122"/>
                <a:cs typeface="Calibri" pitchFamily="34" charset="-120"/>
              </a:rPr>
              <a:t>Audit finding</a:t>
            </a:r>
            <a:endParaRPr lang="en-US" sz="1050" dirty="0"/>
          </a:p>
          <a:p>
            <a:pPr marL="0" indent="0">
              <a:buNone/>
            </a:pPr>
            <a:r>
              <a:rPr lang="en-US" sz="1050" b="1" dirty="0">
                <a:solidFill>
                  <a:srgbClr val="1C2733"/>
                </a:solidFill>
                <a:latin typeface="Calibri" pitchFamily="34" charset="0"/>
                <a:ea typeface="Calibri" pitchFamily="34" charset="-122"/>
                <a:cs typeface="Calibri" pitchFamily="34" charset="-120"/>
              </a:rPr>
              <a:t>exceeds PO</a:t>
            </a:r>
            <a:endParaRPr lang="en-US" sz="1050" dirty="0"/>
          </a:p>
        </p:txBody>
      </p:sp>
      <p:sp>
        <p:nvSpPr>
          <p:cNvPr id="22" name="Shape 20"/>
          <p:cNvSpPr/>
          <p:nvPr/>
        </p:nvSpPr>
        <p:spPr>
          <a:xfrm>
            <a:off x="9875520" y="3502152"/>
            <a:ext cx="1737360" cy="868680"/>
          </a:xfrm>
          <a:prstGeom prst="roundRect">
            <a:avLst>
              <a:gd name="adj" fmla="val 8421"/>
            </a:avLst>
          </a:prstGeom>
          <a:solidFill>
            <a:srgbClr val="EEF4F7"/>
          </a:solidFill>
          <a:ln w="15875">
            <a:solidFill>
              <a:srgbClr val="4A5A68"/>
            </a:solidFill>
            <a:prstDash val="solid"/>
          </a:ln>
        </p:spPr>
      </p:sp>
      <p:sp>
        <p:nvSpPr>
          <p:cNvPr id="23" name="Text 21"/>
          <p:cNvSpPr/>
          <p:nvPr/>
        </p:nvSpPr>
        <p:spPr>
          <a:xfrm>
            <a:off x="9985248" y="3566160"/>
            <a:ext cx="1517904" cy="182880"/>
          </a:xfrm>
          <a:prstGeom prst="rect">
            <a:avLst/>
          </a:prstGeom>
          <a:noFill/>
          <a:ln/>
        </p:spPr>
        <p:txBody>
          <a:bodyPr wrap="square" lIns="0" tIns="0" rIns="0" bIns="0" rtlCol="0" anchor="ctr"/>
          <a:lstStyle/>
          <a:p>
            <a:pPr marL="0" indent="0">
              <a:buNone/>
            </a:pPr>
            <a:r>
              <a:rPr lang="en-US" sz="800" b="1" kern="0" spc="110" dirty="0">
                <a:solidFill>
                  <a:srgbClr val="4A5A68"/>
                </a:solidFill>
                <a:latin typeface="Calibri" pitchFamily="34" charset="0"/>
                <a:ea typeface="Calibri" pitchFamily="34" charset="-122"/>
                <a:cs typeface="Calibri" pitchFamily="34" charset="-120"/>
              </a:rPr>
              <a:t>REVIEW</a:t>
            </a:r>
            <a:endParaRPr lang="en-US" sz="800" dirty="0"/>
          </a:p>
        </p:txBody>
      </p:sp>
      <p:sp>
        <p:nvSpPr>
          <p:cNvPr id="24" name="Text 22"/>
          <p:cNvSpPr/>
          <p:nvPr/>
        </p:nvSpPr>
        <p:spPr>
          <a:xfrm>
            <a:off x="9985248" y="3749040"/>
            <a:ext cx="1517904" cy="539496"/>
          </a:xfrm>
          <a:prstGeom prst="rect">
            <a:avLst/>
          </a:prstGeom>
          <a:noFill/>
          <a:ln/>
        </p:spPr>
        <p:txBody>
          <a:bodyPr wrap="square" lIns="0" tIns="0" rIns="0" bIns="0" rtlCol="0" anchor="t"/>
          <a:lstStyle/>
          <a:p>
            <a:pPr marL="0" indent="0">
              <a:buNone/>
            </a:pPr>
            <a:r>
              <a:rPr lang="en-US" sz="900" b="1" dirty="0">
                <a:solidFill>
                  <a:srgbClr val="1C2733"/>
                </a:solidFill>
                <a:latin typeface="Calibri" pitchFamily="34" charset="0"/>
                <a:ea typeface="Calibri" pitchFamily="34" charset="-122"/>
                <a:cs typeface="Calibri" pitchFamily="34" charset="-120"/>
              </a:rPr>
              <a:t>Reviewer disposition</a:t>
            </a:r>
            <a:endParaRPr lang="en-US" sz="900" dirty="0"/>
          </a:p>
          <a:p>
            <a:pPr marL="0" indent="0">
              <a:buNone/>
            </a:pPr>
            <a:r>
              <a:rPr lang="en-US" sz="900" b="1" dirty="0">
                <a:solidFill>
                  <a:srgbClr val="1C2733"/>
                </a:solidFill>
                <a:latin typeface="Calibri" pitchFamily="34" charset="0"/>
                <a:ea typeface="Calibri" pitchFamily="34" charset="-122"/>
                <a:cs typeface="Calibri" pitchFamily="34" charset="-120"/>
              </a:rPr>
              <a:t>accept / clear / escalate</a:t>
            </a:r>
            <a:endParaRPr lang="en-US" sz="900" dirty="0"/>
          </a:p>
        </p:txBody>
      </p:sp>
      <p:sp>
        <p:nvSpPr>
          <p:cNvPr id="25" name="Shape 23"/>
          <p:cNvSpPr/>
          <p:nvPr/>
        </p:nvSpPr>
        <p:spPr>
          <a:xfrm>
            <a:off x="2377440" y="2061972"/>
            <a:ext cx="411480" cy="0"/>
          </a:xfrm>
          <a:prstGeom prst="line">
            <a:avLst/>
          </a:prstGeom>
          <a:noFill/>
          <a:ln w="19050">
            <a:solidFill>
              <a:srgbClr val="5A6B7A"/>
            </a:solidFill>
            <a:prstDash val="solid"/>
            <a:headEnd type="none"/>
            <a:tailEnd type="triangle"/>
          </a:ln>
        </p:spPr>
      </p:sp>
      <p:sp>
        <p:nvSpPr>
          <p:cNvPr id="26" name="Shape 24"/>
          <p:cNvSpPr/>
          <p:nvPr/>
        </p:nvSpPr>
        <p:spPr>
          <a:xfrm>
            <a:off x="4754880" y="2061972"/>
            <a:ext cx="457200" cy="466344"/>
          </a:xfrm>
          <a:prstGeom prst="line">
            <a:avLst/>
          </a:prstGeom>
          <a:noFill/>
          <a:ln w="22225">
            <a:solidFill>
              <a:srgbClr val="5A6B7A"/>
            </a:solidFill>
            <a:prstDash val="solid"/>
            <a:headEnd type="none"/>
            <a:tailEnd type="triangle"/>
          </a:ln>
        </p:spPr>
      </p:sp>
      <p:sp>
        <p:nvSpPr>
          <p:cNvPr id="27" name="Shape 25"/>
          <p:cNvSpPr/>
          <p:nvPr/>
        </p:nvSpPr>
        <p:spPr>
          <a:xfrm flipV="1">
            <a:off x="2377440" y="2820924"/>
            <a:ext cx="2834640" cy="475488"/>
          </a:xfrm>
          <a:prstGeom prst="line">
            <a:avLst/>
          </a:prstGeom>
          <a:noFill/>
          <a:ln w="22225">
            <a:solidFill>
              <a:srgbClr val="5A6B7A"/>
            </a:solidFill>
            <a:prstDash val="solid"/>
            <a:headEnd type="none"/>
            <a:tailEnd type="triangle"/>
          </a:ln>
        </p:spPr>
      </p:sp>
      <p:sp>
        <p:nvSpPr>
          <p:cNvPr id="28" name="Shape 26"/>
          <p:cNvSpPr/>
          <p:nvPr/>
        </p:nvSpPr>
        <p:spPr>
          <a:xfrm>
            <a:off x="7132320" y="2674620"/>
            <a:ext cx="457200" cy="0"/>
          </a:xfrm>
          <a:prstGeom prst="line">
            <a:avLst/>
          </a:prstGeom>
          <a:noFill/>
          <a:ln w="19050">
            <a:solidFill>
              <a:srgbClr val="5A6B7A"/>
            </a:solidFill>
            <a:prstDash val="solid"/>
            <a:headEnd type="none"/>
            <a:tailEnd type="triangle"/>
          </a:ln>
        </p:spPr>
      </p:sp>
      <p:sp>
        <p:nvSpPr>
          <p:cNvPr id="29" name="Shape 27"/>
          <p:cNvSpPr/>
          <p:nvPr/>
        </p:nvSpPr>
        <p:spPr>
          <a:xfrm>
            <a:off x="9372600" y="2674620"/>
            <a:ext cx="457200" cy="0"/>
          </a:xfrm>
          <a:prstGeom prst="line">
            <a:avLst/>
          </a:prstGeom>
          <a:noFill/>
          <a:ln w="19050">
            <a:solidFill>
              <a:srgbClr val="5A6B7A"/>
            </a:solidFill>
            <a:prstDash val="solid"/>
            <a:headEnd type="none"/>
            <a:tailEnd type="triangle"/>
          </a:ln>
        </p:spPr>
      </p:sp>
      <p:sp>
        <p:nvSpPr>
          <p:cNvPr id="30" name="Shape 28"/>
          <p:cNvSpPr/>
          <p:nvPr/>
        </p:nvSpPr>
        <p:spPr>
          <a:xfrm>
            <a:off x="10744200" y="3145536"/>
            <a:ext cx="0" cy="310896"/>
          </a:xfrm>
          <a:prstGeom prst="line">
            <a:avLst/>
          </a:prstGeom>
          <a:noFill/>
          <a:ln w="19050">
            <a:solidFill>
              <a:srgbClr val="5A6B7A"/>
            </a:solidFill>
            <a:prstDash val="solid"/>
            <a:headEnd type="none"/>
            <a:tailEnd type="triangle"/>
          </a:ln>
        </p:spPr>
      </p:sp>
      <p:sp>
        <p:nvSpPr>
          <p:cNvPr id="31" name="Text 29"/>
          <p:cNvSpPr/>
          <p:nvPr/>
        </p:nvSpPr>
        <p:spPr>
          <a:xfrm>
            <a:off x="5257800" y="3163824"/>
            <a:ext cx="1828800" cy="219456"/>
          </a:xfrm>
          <a:prstGeom prst="rect">
            <a:avLst/>
          </a:prstGeom>
          <a:noFill/>
          <a:ln/>
        </p:spPr>
        <p:txBody>
          <a:bodyPr wrap="square" lIns="0" tIns="0" rIns="0" bIns="0" rtlCol="0" anchor="ctr"/>
          <a:lstStyle/>
          <a:p>
            <a:pPr marL="0" indent="0" algn="ctr">
              <a:buNone/>
            </a:pPr>
            <a:r>
              <a:rPr lang="en-US" sz="950" b="1" i="1" dirty="0">
                <a:solidFill>
                  <a:srgbClr val="C2700A"/>
                </a:solidFill>
                <a:latin typeface="Calibri" pitchFamily="34" charset="0"/>
                <a:ea typeface="Calibri" pitchFamily="34" charset="-122"/>
                <a:cs typeface="Calibri" pitchFamily="34" charset="-120"/>
              </a:rPr>
              <a:t>two parents</a:t>
            </a:r>
            <a:endParaRPr lang="en-US" sz="950" dirty="0"/>
          </a:p>
        </p:txBody>
      </p:sp>
      <p:sp>
        <p:nvSpPr>
          <p:cNvPr id="32" name="Shape 30"/>
          <p:cNvSpPr/>
          <p:nvPr/>
        </p:nvSpPr>
        <p:spPr>
          <a:xfrm>
            <a:off x="548640" y="4553712"/>
            <a:ext cx="5440680" cy="1143000"/>
          </a:xfrm>
          <a:prstGeom prst="roundRect">
            <a:avLst>
              <a:gd name="adj" fmla="val 4800"/>
            </a:avLst>
          </a:prstGeom>
          <a:solidFill>
            <a:srgbClr val="EEF4F7"/>
          </a:solidFill>
          <a:ln w="15875">
            <a:solidFill>
              <a:srgbClr val="17324D"/>
            </a:solidFill>
            <a:prstDash val="solid"/>
          </a:ln>
        </p:spPr>
      </p:sp>
      <p:sp>
        <p:nvSpPr>
          <p:cNvPr id="33" name="Text 31"/>
          <p:cNvSpPr/>
          <p:nvPr/>
        </p:nvSpPr>
        <p:spPr>
          <a:xfrm>
            <a:off x="777240" y="4700016"/>
            <a:ext cx="4937760" cy="256032"/>
          </a:xfrm>
          <a:prstGeom prst="rect">
            <a:avLst/>
          </a:prstGeom>
          <a:noFill/>
          <a:ln/>
        </p:spPr>
        <p:txBody>
          <a:bodyPr wrap="square" lIns="0" tIns="0" rIns="0" bIns="0" rtlCol="0" anchor="ctr"/>
          <a:lstStyle/>
          <a:p>
            <a:pPr marL="0" indent="0">
              <a:buNone/>
            </a:pPr>
            <a:r>
              <a:rPr lang="en-US" sz="1150" b="1" kern="0" spc="90" dirty="0">
                <a:solidFill>
                  <a:srgbClr val="17324D"/>
                </a:solidFill>
                <a:latin typeface="Calibri" pitchFamily="34" charset="0"/>
                <a:ea typeface="Calibri" pitchFamily="34" charset="-122"/>
                <a:cs typeface="Calibri" pitchFamily="34" charset="-120"/>
              </a:rPr>
              <a:t>←   BACKWARD LINEAGE</a:t>
            </a:r>
            <a:endParaRPr lang="en-US" sz="1150" dirty="0"/>
          </a:p>
        </p:txBody>
      </p:sp>
      <p:sp>
        <p:nvSpPr>
          <p:cNvPr id="34" name="Text 32"/>
          <p:cNvSpPr/>
          <p:nvPr/>
        </p:nvSpPr>
        <p:spPr>
          <a:xfrm>
            <a:off x="777240" y="5010912"/>
            <a:ext cx="4983480" cy="603504"/>
          </a:xfrm>
          <a:prstGeom prst="rect">
            <a:avLst/>
          </a:prstGeom>
          <a:noFill/>
          <a:ln/>
        </p:spPr>
        <p:txBody>
          <a:bodyPr wrap="square" lIns="0" tIns="0" rIns="0" bIns="0" rtlCol="0" anchor="t"/>
          <a:lstStyle/>
          <a:p>
            <a:pPr marL="0" indent="0">
              <a:buNone/>
            </a:pPr>
            <a:r>
              <a:rPr lang="en-US" sz="1150" dirty="0">
                <a:solidFill>
                  <a:srgbClr val="1C2733"/>
                </a:solidFill>
                <a:latin typeface="Calibri" pitchFamily="34" charset="0"/>
                <a:ea typeface="Calibri" pitchFamily="34" charset="-122"/>
                <a:cs typeface="Calibri" pitchFamily="34" charset="-120"/>
              </a:rPr>
              <a:t>From a finding, traverse ancestors to the exact page, row, or cell and the transformations that produced it.</a:t>
            </a:r>
            <a:endParaRPr lang="en-US" sz="1150" dirty="0"/>
          </a:p>
        </p:txBody>
      </p:sp>
      <p:sp>
        <p:nvSpPr>
          <p:cNvPr id="35" name="Shape 33"/>
          <p:cNvSpPr/>
          <p:nvPr/>
        </p:nvSpPr>
        <p:spPr>
          <a:xfrm>
            <a:off x="6172200" y="4553712"/>
            <a:ext cx="5440680" cy="1143000"/>
          </a:xfrm>
          <a:prstGeom prst="roundRect">
            <a:avLst>
              <a:gd name="adj" fmla="val 4800"/>
            </a:avLst>
          </a:prstGeom>
          <a:solidFill>
            <a:srgbClr val="FCF3E6"/>
          </a:solidFill>
          <a:ln w="15875">
            <a:solidFill>
              <a:srgbClr val="C2700A"/>
            </a:solidFill>
            <a:prstDash val="solid"/>
          </a:ln>
        </p:spPr>
      </p:sp>
      <p:sp>
        <p:nvSpPr>
          <p:cNvPr id="36" name="Text 34"/>
          <p:cNvSpPr/>
          <p:nvPr/>
        </p:nvSpPr>
        <p:spPr>
          <a:xfrm>
            <a:off x="6400800" y="4700016"/>
            <a:ext cx="4937760" cy="256032"/>
          </a:xfrm>
          <a:prstGeom prst="rect">
            <a:avLst/>
          </a:prstGeom>
          <a:noFill/>
          <a:ln/>
        </p:spPr>
        <p:txBody>
          <a:bodyPr wrap="square" lIns="0" tIns="0" rIns="0" bIns="0" rtlCol="0" anchor="ctr"/>
          <a:lstStyle/>
          <a:p>
            <a:pPr marL="0" indent="0">
              <a:buNone/>
            </a:pPr>
            <a:r>
              <a:rPr lang="en-US" sz="1150" b="1" kern="0" spc="90" dirty="0">
                <a:solidFill>
                  <a:srgbClr val="C2700A"/>
                </a:solidFill>
                <a:latin typeface="Calibri" pitchFamily="34" charset="0"/>
                <a:ea typeface="Calibri" pitchFamily="34" charset="-122"/>
                <a:cs typeface="Calibri" pitchFamily="34" charset="-120"/>
              </a:rPr>
              <a:t>FORWARD IMPACT   →</a:t>
            </a:r>
            <a:endParaRPr lang="en-US" sz="1150" dirty="0"/>
          </a:p>
        </p:txBody>
      </p:sp>
      <p:sp>
        <p:nvSpPr>
          <p:cNvPr id="37" name="Text 35"/>
          <p:cNvSpPr/>
          <p:nvPr/>
        </p:nvSpPr>
        <p:spPr>
          <a:xfrm>
            <a:off x="6400800" y="5010912"/>
            <a:ext cx="4983480" cy="603504"/>
          </a:xfrm>
          <a:prstGeom prst="rect">
            <a:avLst/>
          </a:prstGeom>
          <a:noFill/>
          <a:ln/>
        </p:spPr>
        <p:txBody>
          <a:bodyPr wrap="square" lIns="0" tIns="0" rIns="0" bIns="0" rtlCol="0" anchor="t"/>
          <a:lstStyle/>
          <a:p>
            <a:pPr marL="0" indent="0">
              <a:buNone/>
            </a:pPr>
            <a:r>
              <a:rPr lang="en-US" sz="1150" dirty="0">
                <a:solidFill>
                  <a:srgbClr val="1C2733"/>
                </a:solidFill>
                <a:latin typeface="Calibri" pitchFamily="34" charset="0"/>
                <a:ea typeface="Calibri" pitchFamily="34" charset="-122"/>
                <a:cs typeface="Calibri" pitchFamily="34" charset="-120"/>
              </a:rPr>
              <a:t>Correct one cell or extraction, then traverse descendants: every conclusion that depended on it.</a:t>
            </a:r>
            <a:endParaRPr lang="en-US" sz="1150" dirty="0"/>
          </a:p>
        </p:txBody>
      </p:sp>
      <p:sp>
        <p:nvSpPr>
          <p:cNvPr id="38" name="Text 36"/>
          <p:cNvSpPr/>
          <p:nvPr/>
        </p:nvSpPr>
        <p:spPr>
          <a:xfrm>
            <a:off x="566928" y="5943600"/>
            <a:ext cx="11064240" cy="274320"/>
          </a:xfrm>
          <a:prstGeom prst="rect">
            <a:avLst/>
          </a:prstGeom>
          <a:noFill/>
          <a:ln/>
        </p:spPr>
        <p:txBody>
          <a:bodyPr wrap="square" lIns="0" tIns="0" rIns="0" bIns="0" rtlCol="0" anchor="ctr"/>
          <a:lstStyle/>
          <a:p>
            <a:pPr marL="0" indent="0">
              <a:buNone/>
            </a:pPr>
            <a:r>
              <a:rPr lang="en-US" sz="1200" b="1" i="1" dirty="0">
                <a:solidFill>
                  <a:srgbClr val="17324D"/>
                </a:solidFill>
                <a:latin typeface="Calibri" pitchFamily="34" charset="0"/>
                <a:ea typeface="Calibri" pitchFamily="34" charset="-122"/>
                <a:cs typeface="Calibri" pitchFamily="34" charset="-120"/>
              </a:rPr>
              <a:t>Seven explicit objects whose lineage is not buried only in prose.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marL="0" indent="0">
              <a:buNone/>
            </a:pPr>
            <a:r>
              <a:rPr lang="en-US" sz="1100" b="1" kern="0" spc="160" dirty="0">
                <a:solidFill>
                  <a:srgbClr val="C2700A"/>
                </a:solidFill>
                <a:latin typeface="Calibri" pitchFamily="34" charset="0"/>
                <a:ea typeface="Calibri" pitchFamily="34" charset="-122"/>
                <a:cs typeface="Calibri" pitchFamily="34" charset="-120"/>
              </a:rPr>
              <a:t>THE VALUE</a:t>
            </a:r>
            <a:endParaRPr lang="en-US" sz="1100" dirty="0"/>
          </a:p>
        </p:txBody>
      </p:sp>
      <p:sp>
        <p:nvSpPr>
          <p:cNvPr id="3" name="Text 1"/>
          <p:cNvSpPr/>
          <p:nvPr/>
        </p:nvSpPr>
        <p:spPr>
          <a:xfrm>
            <a:off x="548640" y="658368"/>
            <a:ext cx="1060704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What auditors can do with it</a:t>
            </a:r>
            <a:endParaRPr lang="en-US" sz="3200" dirty="0"/>
          </a:p>
        </p:txBody>
      </p:sp>
      <p:sp>
        <p:nvSpPr>
          <p:cNvPr id="4" name="Shape 2"/>
          <p:cNvSpPr/>
          <p:nvPr/>
        </p:nvSpPr>
        <p:spPr>
          <a:xfrm>
            <a:off x="548640" y="1572768"/>
            <a:ext cx="2148840" cy="1965960"/>
          </a:xfrm>
          <a:prstGeom prst="roundRect">
            <a:avLst>
              <a:gd name="adj" fmla="val 2791"/>
            </a:avLst>
          </a:prstGeom>
          <a:solidFill>
            <a:srgbClr val="EEF4F7"/>
          </a:solidFill>
          <a:ln w="12700">
            <a:solidFill>
              <a:srgbClr val="C3D2DC"/>
            </a:solidFill>
            <a:prstDash val="solid"/>
          </a:ln>
        </p:spPr>
      </p:sp>
      <p:sp>
        <p:nvSpPr>
          <p:cNvPr id="5" name="Shape 3"/>
          <p:cNvSpPr/>
          <p:nvPr/>
        </p:nvSpPr>
        <p:spPr>
          <a:xfrm>
            <a:off x="731520" y="1773936"/>
            <a:ext cx="182880" cy="182880"/>
          </a:xfrm>
          <a:prstGeom prst="ellipse">
            <a:avLst/>
          </a:prstGeom>
          <a:solidFill>
            <a:srgbClr val="0E7C86"/>
          </a:solidFill>
          <a:ln w="12700">
            <a:solidFill>
              <a:srgbClr val="0E7C86"/>
            </a:solidFill>
            <a:prstDash val="solid"/>
          </a:ln>
        </p:spPr>
      </p:sp>
      <p:sp>
        <p:nvSpPr>
          <p:cNvPr id="6" name="Text 4"/>
          <p:cNvSpPr/>
          <p:nvPr/>
        </p:nvSpPr>
        <p:spPr>
          <a:xfrm>
            <a:off x="731520" y="2048256"/>
            <a:ext cx="1783080" cy="457200"/>
          </a:xfrm>
          <a:prstGeom prst="rect">
            <a:avLst/>
          </a:prstGeom>
          <a:noFill/>
          <a:ln/>
        </p:spPr>
        <p:txBody>
          <a:bodyPr wrap="square" lIns="0" tIns="0" rIns="0" bIns="0" rtlCol="0" anchor="t"/>
          <a:lstStyle/>
          <a:p>
            <a:pPr marL="0" indent="0">
              <a:buNone/>
            </a:pPr>
            <a:r>
              <a:rPr lang="en-US" sz="1250" b="1" dirty="0">
                <a:solidFill>
                  <a:srgbClr val="0E7C86"/>
                </a:solidFill>
                <a:latin typeface="Calibri" pitchFamily="34" charset="0"/>
                <a:ea typeface="Calibri" pitchFamily="34" charset="-122"/>
                <a:cs typeface="Calibri" pitchFamily="34" charset="-120"/>
              </a:rPr>
              <a:t>Reproducibility</a:t>
            </a:r>
            <a:endParaRPr lang="en-US" sz="1250" dirty="0"/>
          </a:p>
        </p:txBody>
      </p:sp>
      <p:sp>
        <p:nvSpPr>
          <p:cNvPr id="7" name="Text 5"/>
          <p:cNvSpPr/>
          <p:nvPr/>
        </p:nvSpPr>
        <p:spPr>
          <a:xfrm>
            <a:off x="731520" y="2505456"/>
            <a:ext cx="1783080" cy="914400"/>
          </a:xfrm>
          <a:prstGeom prst="rect">
            <a:avLst/>
          </a:prstGeom>
          <a:noFill/>
          <a:ln/>
        </p:spPr>
        <p:txBody>
          <a:bodyPr wrap="square" lIns="0" tIns="0" rIns="0" bIns="0" rtlCol="0" anchor="t"/>
          <a:lstStyle/>
          <a:p>
            <a:pPr marL="0" indent="0">
              <a:buNone/>
            </a:pPr>
            <a:r>
              <a:rPr lang="en-US" sz="1050" dirty="0">
                <a:solidFill>
                  <a:srgbClr val="1C2733"/>
                </a:solidFill>
                <a:latin typeface="Calibri" pitchFamily="34" charset="0"/>
                <a:ea typeface="Calibri" pitchFamily="34" charset="-122"/>
                <a:cs typeface="Calibri" pitchFamily="34" charset="-120"/>
              </a:rPr>
              <a:t>Identify the exact inputs, rule versions, and tool chain behind an automated exception.</a:t>
            </a:r>
            <a:endParaRPr lang="en-US" sz="1050" dirty="0"/>
          </a:p>
        </p:txBody>
      </p:sp>
      <p:sp>
        <p:nvSpPr>
          <p:cNvPr id="8" name="Shape 6"/>
          <p:cNvSpPr/>
          <p:nvPr/>
        </p:nvSpPr>
        <p:spPr>
          <a:xfrm>
            <a:off x="2880360" y="1572768"/>
            <a:ext cx="2148840" cy="1965960"/>
          </a:xfrm>
          <a:prstGeom prst="roundRect">
            <a:avLst>
              <a:gd name="adj" fmla="val 2791"/>
            </a:avLst>
          </a:prstGeom>
          <a:solidFill>
            <a:srgbClr val="EEF4F7"/>
          </a:solidFill>
          <a:ln w="12700">
            <a:solidFill>
              <a:srgbClr val="C3D2DC"/>
            </a:solidFill>
            <a:prstDash val="solid"/>
          </a:ln>
        </p:spPr>
      </p:sp>
      <p:sp>
        <p:nvSpPr>
          <p:cNvPr id="9" name="Shape 7"/>
          <p:cNvSpPr/>
          <p:nvPr/>
        </p:nvSpPr>
        <p:spPr>
          <a:xfrm>
            <a:off x="3063240" y="1773936"/>
            <a:ext cx="182880" cy="182880"/>
          </a:xfrm>
          <a:prstGeom prst="ellipse">
            <a:avLst/>
          </a:prstGeom>
          <a:solidFill>
            <a:srgbClr val="17324D"/>
          </a:solidFill>
          <a:ln w="12700">
            <a:solidFill>
              <a:srgbClr val="17324D"/>
            </a:solidFill>
            <a:prstDash val="solid"/>
          </a:ln>
        </p:spPr>
      </p:sp>
      <p:sp>
        <p:nvSpPr>
          <p:cNvPr id="10" name="Text 8"/>
          <p:cNvSpPr/>
          <p:nvPr/>
        </p:nvSpPr>
        <p:spPr>
          <a:xfrm>
            <a:off x="3063240" y="2048256"/>
            <a:ext cx="1783080" cy="457200"/>
          </a:xfrm>
          <a:prstGeom prst="rect">
            <a:avLst/>
          </a:prstGeom>
          <a:noFill/>
          <a:ln/>
        </p:spPr>
        <p:txBody>
          <a:bodyPr wrap="square" lIns="0" tIns="0" rIns="0" bIns="0" rtlCol="0" anchor="t"/>
          <a:lstStyle/>
          <a:p>
            <a:pPr marL="0" indent="0">
              <a:buNone/>
            </a:pPr>
            <a:r>
              <a:rPr lang="en-US" sz="1250" b="1" dirty="0">
                <a:solidFill>
                  <a:srgbClr val="17324D"/>
                </a:solidFill>
                <a:latin typeface="Calibri" pitchFamily="34" charset="0"/>
                <a:ea typeface="Calibri" pitchFamily="34" charset="-122"/>
                <a:cs typeface="Calibri" pitchFamily="34" charset="-120"/>
              </a:rPr>
              <a:t>Backtracing</a:t>
            </a:r>
            <a:endParaRPr lang="en-US" sz="1250" dirty="0"/>
          </a:p>
        </p:txBody>
      </p:sp>
      <p:sp>
        <p:nvSpPr>
          <p:cNvPr id="11" name="Text 9"/>
          <p:cNvSpPr/>
          <p:nvPr/>
        </p:nvSpPr>
        <p:spPr>
          <a:xfrm>
            <a:off x="3063240" y="2505456"/>
            <a:ext cx="1783080" cy="914400"/>
          </a:xfrm>
          <a:prstGeom prst="rect">
            <a:avLst/>
          </a:prstGeom>
          <a:noFill/>
          <a:ln/>
        </p:spPr>
        <p:txBody>
          <a:bodyPr wrap="square" lIns="0" tIns="0" rIns="0" bIns="0" rtlCol="0" anchor="t"/>
          <a:lstStyle/>
          <a:p>
            <a:pPr marL="0" indent="0">
              <a:buNone/>
            </a:pPr>
            <a:r>
              <a:rPr lang="en-US" sz="1050" dirty="0">
                <a:solidFill>
                  <a:srgbClr val="1C2733"/>
                </a:solidFill>
                <a:latin typeface="Calibri" pitchFamily="34" charset="0"/>
                <a:ea typeface="Calibri" pitchFamily="34" charset="-122"/>
                <a:cs typeface="Calibri" pitchFamily="34" charset="-120"/>
              </a:rPr>
              <a:t>A reviewer opens the exact source page, row, or cell behind a finding.</a:t>
            </a:r>
            <a:endParaRPr lang="en-US" sz="1050" dirty="0"/>
          </a:p>
        </p:txBody>
      </p:sp>
      <p:sp>
        <p:nvSpPr>
          <p:cNvPr id="12" name="Shape 10"/>
          <p:cNvSpPr/>
          <p:nvPr/>
        </p:nvSpPr>
        <p:spPr>
          <a:xfrm>
            <a:off x="5212080" y="1572768"/>
            <a:ext cx="2148840" cy="1965960"/>
          </a:xfrm>
          <a:prstGeom prst="roundRect">
            <a:avLst>
              <a:gd name="adj" fmla="val 2791"/>
            </a:avLst>
          </a:prstGeom>
          <a:solidFill>
            <a:srgbClr val="EEF4F7"/>
          </a:solidFill>
          <a:ln w="12700">
            <a:solidFill>
              <a:srgbClr val="C3D2DC"/>
            </a:solidFill>
            <a:prstDash val="solid"/>
          </a:ln>
        </p:spPr>
      </p:sp>
      <p:sp>
        <p:nvSpPr>
          <p:cNvPr id="13" name="Shape 11"/>
          <p:cNvSpPr/>
          <p:nvPr/>
        </p:nvSpPr>
        <p:spPr>
          <a:xfrm>
            <a:off x="5394960" y="1773936"/>
            <a:ext cx="182880" cy="182880"/>
          </a:xfrm>
          <a:prstGeom prst="ellipse">
            <a:avLst/>
          </a:prstGeom>
          <a:solidFill>
            <a:srgbClr val="C2700A"/>
          </a:solidFill>
          <a:ln w="12700">
            <a:solidFill>
              <a:srgbClr val="C2700A"/>
            </a:solidFill>
            <a:prstDash val="solid"/>
          </a:ln>
        </p:spPr>
      </p:sp>
      <p:sp>
        <p:nvSpPr>
          <p:cNvPr id="14" name="Text 12"/>
          <p:cNvSpPr/>
          <p:nvPr/>
        </p:nvSpPr>
        <p:spPr>
          <a:xfrm>
            <a:off x="5394960" y="2048256"/>
            <a:ext cx="1783080" cy="457200"/>
          </a:xfrm>
          <a:prstGeom prst="rect">
            <a:avLst/>
          </a:prstGeom>
          <a:noFill/>
          <a:ln/>
        </p:spPr>
        <p:txBody>
          <a:bodyPr wrap="square" lIns="0" tIns="0" rIns="0" bIns="0" rtlCol="0" anchor="t"/>
          <a:lstStyle/>
          <a:p>
            <a:pPr marL="0" indent="0">
              <a:buNone/>
            </a:pPr>
            <a:r>
              <a:rPr lang="en-US" sz="1250" b="1" dirty="0">
                <a:solidFill>
                  <a:srgbClr val="C2700A"/>
                </a:solidFill>
                <a:latin typeface="Calibri" pitchFamily="34" charset="0"/>
                <a:ea typeface="Calibri" pitchFamily="34" charset="-122"/>
                <a:cs typeface="Calibri" pitchFamily="34" charset="-120"/>
              </a:rPr>
              <a:t>Impact analysis</a:t>
            </a:r>
            <a:endParaRPr lang="en-US" sz="1250" dirty="0"/>
          </a:p>
        </p:txBody>
      </p:sp>
      <p:sp>
        <p:nvSpPr>
          <p:cNvPr id="15" name="Text 13"/>
          <p:cNvSpPr/>
          <p:nvPr/>
        </p:nvSpPr>
        <p:spPr>
          <a:xfrm>
            <a:off x="5394960" y="2505456"/>
            <a:ext cx="1783080" cy="914400"/>
          </a:xfrm>
          <a:prstGeom prst="rect">
            <a:avLst/>
          </a:prstGeom>
          <a:noFill/>
          <a:ln/>
        </p:spPr>
        <p:txBody>
          <a:bodyPr wrap="square" lIns="0" tIns="0" rIns="0" bIns="0" rtlCol="0" anchor="t"/>
          <a:lstStyle/>
          <a:p>
            <a:pPr marL="0" indent="0">
              <a:buNone/>
            </a:pPr>
            <a:r>
              <a:rPr lang="en-US" sz="1050" dirty="0">
                <a:solidFill>
                  <a:srgbClr val="1C2733"/>
                </a:solidFill>
                <a:latin typeface="Calibri" pitchFamily="34" charset="0"/>
                <a:ea typeface="Calibri" pitchFamily="34" charset="-122"/>
                <a:cs typeface="Calibri" pitchFamily="34" charset="-120"/>
              </a:rPr>
              <a:t>A client corrects one input; identify every downstream conclusion affected.</a:t>
            </a:r>
            <a:endParaRPr lang="en-US" sz="1050" dirty="0"/>
          </a:p>
        </p:txBody>
      </p:sp>
      <p:sp>
        <p:nvSpPr>
          <p:cNvPr id="16" name="Shape 14"/>
          <p:cNvSpPr/>
          <p:nvPr/>
        </p:nvSpPr>
        <p:spPr>
          <a:xfrm>
            <a:off x="7543800" y="1572768"/>
            <a:ext cx="2148840" cy="1965960"/>
          </a:xfrm>
          <a:prstGeom prst="roundRect">
            <a:avLst>
              <a:gd name="adj" fmla="val 2791"/>
            </a:avLst>
          </a:prstGeom>
          <a:solidFill>
            <a:srgbClr val="EEF4F7"/>
          </a:solidFill>
          <a:ln w="12700">
            <a:solidFill>
              <a:srgbClr val="C3D2DC"/>
            </a:solidFill>
            <a:prstDash val="solid"/>
          </a:ln>
        </p:spPr>
      </p:sp>
      <p:sp>
        <p:nvSpPr>
          <p:cNvPr id="17" name="Shape 15"/>
          <p:cNvSpPr/>
          <p:nvPr/>
        </p:nvSpPr>
        <p:spPr>
          <a:xfrm>
            <a:off x="7726680" y="1773936"/>
            <a:ext cx="182880" cy="182880"/>
          </a:xfrm>
          <a:prstGeom prst="ellipse">
            <a:avLst/>
          </a:prstGeom>
          <a:solidFill>
            <a:srgbClr val="7A2E3C"/>
          </a:solidFill>
          <a:ln w="12700">
            <a:solidFill>
              <a:srgbClr val="7A2E3C"/>
            </a:solidFill>
            <a:prstDash val="solid"/>
          </a:ln>
        </p:spPr>
      </p:sp>
      <p:sp>
        <p:nvSpPr>
          <p:cNvPr id="18" name="Text 16"/>
          <p:cNvSpPr/>
          <p:nvPr/>
        </p:nvSpPr>
        <p:spPr>
          <a:xfrm>
            <a:off x="7726680" y="2048256"/>
            <a:ext cx="1783080" cy="457200"/>
          </a:xfrm>
          <a:prstGeom prst="rect">
            <a:avLst/>
          </a:prstGeom>
          <a:noFill/>
          <a:ln/>
        </p:spPr>
        <p:txBody>
          <a:bodyPr wrap="square" lIns="0" tIns="0" rIns="0" bIns="0" rtlCol="0" anchor="t"/>
          <a:lstStyle/>
          <a:p>
            <a:pPr marL="0" indent="0">
              <a:buNone/>
            </a:pPr>
            <a:r>
              <a:rPr lang="en-US" sz="1250" b="1" dirty="0">
                <a:solidFill>
                  <a:srgbClr val="7A2E3C"/>
                </a:solidFill>
                <a:latin typeface="Calibri" pitchFamily="34" charset="0"/>
                <a:ea typeface="Calibri" pitchFamily="34" charset="-122"/>
                <a:cs typeface="Calibri" pitchFamily="34" charset="-120"/>
              </a:rPr>
              <a:t>Control testing</a:t>
            </a:r>
            <a:endParaRPr lang="en-US" sz="1250" dirty="0"/>
          </a:p>
        </p:txBody>
      </p:sp>
      <p:sp>
        <p:nvSpPr>
          <p:cNvPr id="19" name="Text 17"/>
          <p:cNvSpPr/>
          <p:nvPr/>
        </p:nvSpPr>
        <p:spPr>
          <a:xfrm>
            <a:off x="7726680" y="2505456"/>
            <a:ext cx="1783080" cy="914400"/>
          </a:xfrm>
          <a:prstGeom prst="rect">
            <a:avLst/>
          </a:prstGeom>
          <a:noFill/>
          <a:ln/>
        </p:spPr>
        <p:txBody>
          <a:bodyPr wrap="square" lIns="0" tIns="0" rIns="0" bIns="0" rtlCol="0" anchor="t"/>
          <a:lstStyle/>
          <a:p>
            <a:pPr marL="0" indent="0">
              <a:buNone/>
            </a:pPr>
            <a:r>
              <a:rPr lang="en-US" sz="1050" dirty="0">
                <a:solidFill>
                  <a:srgbClr val="1C2733"/>
                </a:solidFill>
                <a:latin typeface="Calibri" pitchFamily="34" charset="0"/>
                <a:ea typeface="Calibri" pitchFamily="34" charset="-122"/>
                <a:cs typeface="Calibri" pitchFamily="34" charset="-120"/>
              </a:rPr>
              <a:t>Test whether the agent used only approved evidence sources and approved tools.</a:t>
            </a:r>
            <a:endParaRPr lang="en-US" sz="1050" dirty="0"/>
          </a:p>
        </p:txBody>
      </p:sp>
      <p:sp>
        <p:nvSpPr>
          <p:cNvPr id="20" name="Shape 18"/>
          <p:cNvSpPr/>
          <p:nvPr/>
        </p:nvSpPr>
        <p:spPr>
          <a:xfrm>
            <a:off x="9875520" y="1572768"/>
            <a:ext cx="2148840" cy="1965960"/>
          </a:xfrm>
          <a:prstGeom prst="roundRect">
            <a:avLst>
              <a:gd name="adj" fmla="val 2791"/>
            </a:avLst>
          </a:prstGeom>
          <a:solidFill>
            <a:srgbClr val="EEF4F7"/>
          </a:solidFill>
          <a:ln w="12700">
            <a:solidFill>
              <a:srgbClr val="C3D2DC"/>
            </a:solidFill>
            <a:prstDash val="solid"/>
          </a:ln>
        </p:spPr>
      </p:sp>
      <p:sp>
        <p:nvSpPr>
          <p:cNvPr id="21" name="Shape 19"/>
          <p:cNvSpPr/>
          <p:nvPr/>
        </p:nvSpPr>
        <p:spPr>
          <a:xfrm>
            <a:off x="10058400" y="1773936"/>
            <a:ext cx="182880" cy="182880"/>
          </a:xfrm>
          <a:prstGeom prst="ellipse">
            <a:avLst/>
          </a:prstGeom>
          <a:solidFill>
            <a:srgbClr val="4A5A68"/>
          </a:solidFill>
          <a:ln w="12700">
            <a:solidFill>
              <a:srgbClr val="4A5A68"/>
            </a:solidFill>
            <a:prstDash val="solid"/>
          </a:ln>
        </p:spPr>
      </p:sp>
      <p:sp>
        <p:nvSpPr>
          <p:cNvPr id="22" name="Text 20"/>
          <p:cNvSpPr/>
          <p:nvPr/>
        </p:nvSpPr>
        <p:spPr>
          <a:xfrm>
            <a:off x="10058400" y="2048256"/>
            <a:ext cx="1783080" cy="457200"/>
          </a:xfrm>
          <a:prstGeom prst="rect">
            <a:avLst/>
          </a:prstGeom>
          <a:noFill/>
          <a:ln/>
        </p:spPr>
        <p:txBody>
          <a:bodyPr wrap="square" lIns="0" tIns="0" rIns="0" bIns="0" rtlCol="0" anchor="t"/>
          <a:lstStyle/>
          <a:p>
            <a:pPr marL="0" indent="0">
              <a:buNone/>
            </a:pPr>
            <a:r>
              <a:rPr lang="en-US" sz="1250" b="1" dirty="0">
                <a:solidFill>
                  <a:srgbClr val="4A5A68"/>
                </a:solidFill>
                <a:latin typeface="Calibri" pitchFamily="34" charset="0"/>
                <a:ea typeface="Calibri" pitchFamily="34" charset="-122"/>
                <a:cs typeface="Calibri" pitchFamily="34" charset="-120"/>
              </a:rPr>
              <a:t>Root-cause analysis</a:t>
            </a:r>
            <a:endParaRPr lang="en-US" sz="1250" dirty="0"/>
          </a:p>
        </p:txBody>
      </p:sp>
      <p:sp>
        <p:nvSpPr>
          <p:cNvPr id="23" name="Text 21"/>
          <p:cNvSpPr/>
          <p:nvPr/>
        </p:nvSpPr>
        <p:spPr>
          <a:xfrm>
            <a:off x="10058400" y="2505456"/>
            <a:ext cx="1783080" cy="914400"/>
          </a:xfrm>
          <a:prstGeom prst="rect">
            <a:avLst/>
          </a:prstGeom>
          <a:noFill/>
          <a:ln/>
        </p:spPr>
        <p:txBody>
          <a:bodyPr wrap="square" lIns="0" tIns="0" rIns="0" bIns="0" rtlCol="0" anchor="t"/>
          <a:lstStyle/>
          <a:p>
            <a:pPr marL="0" indent="0">
              <a:buNone/>
            </a:pPr>
            <a:r>
              <a:rPr lang="en-US" sz="1050" dirty="0">
                <a:solidFill>
                  <a:srgbClr val="1C2733"/>
                </a:solidFill>
                <a:latin typeface="Calibri" pitchFamily="34" charset="0"/>
                <a:ea typeface="Calibri" pitchFamily="34" charset="-122"/>
                <a:cs typeface="Calibri" pitchFamily="34" charset="-120"/>
              </a:rPr>
              <a:t>Locate the earliest unsupported observation instead of one opaque event.</a:t>
            </a:r>
            <a:endParaRPr lang="en-US" sz="1050" dirty="0"/>
          </a:p>
        </p:txBody>
      </p:sp>
      <p:sp>
        <p:nvSpPr>
          <p:cNvPr id="24" name="Text 22"/>
          <p:cNvSpPr/>
          <p:nvPr/>
        </p:nvSpPr>
        <p:spPr>
          <a:xfrm>
            <a:off x="566928" y="3712464"/>
            <a:ext cx="11064240" cy="274320"/>
          </a:xfrm>
          <a:prstGeom prst="rect">
            <a:avLst/>
          </a:prstGeom>
          <a:noFill/>
          <a:ln/>
        </p:spPr>
        <p:txBody>
          <a:bodyPr wrap="square" lIns="0" tIns="0" rIns="0" bIns="0" rtlCol="0" anchor="ctr"/>
          <a:lstStyle/>
          <a:p>
            <a:pPr marL="0" indent="0">
              <a:buNone/>
            </a:pPr>
            <a:r>
              <a:rPr lang="en-US" sz="1050" i="1" dirty="0">
                <a:solidFill>
                  <a:srgbClr val="7A2E3C"/>
                </a:solidFill>
                <a:latin typeface="Calibri" pitchFamily="34" charset="0"/>
                <a:ea typeface="Calibri" pitchFamily="34" charset="-122"/>
                <a:cs typeface="Calibri" pitchFamily="34" charset="-120"/>
              </a:rPr>
              <a:t>“Re-performance” means the auditor independently executing the procedure. Repeating the machine’s run is a different, lesser thing.</a:t>
            </a:r>
            <a:endParaRPr lang="en-US" sz="1050" dirty="0"/>
          </a:p>
        </p:txBody>
      </p:sp>
      <p:sp>
        <p:nvSpPr>
          <p:cNvPr id="25" name="Shape 23"/>
          <p:cNvSpPr/>
          <p:nvPr/>
        </p:nvSpPr>
        <p:spPr>
          <a:xfrm>
            <a:off x="548640" y="4133088"/>
            <a:ext cx="5486400" cy="2084832"/>
          </a:xfrm>
          <a:prstGeom prst="roundRect">
            <a:avLst>
              <a:gd name="adj" fmla="val 2632"/>
            </a:avLst>
          </a:prstGeom>
          <a:solidFill>
            <a:srgbClr val="EEF4F7"/>
          </a:solidFill>
          <a:ln w="12700">
            <a:solidFill>
              <a:srgbClr val="C3D2DC"/>
            </a:solidFill>
            <a:prstDash val="solid"/>
          </a:ln>
        </p:spPr>
      </p:sp>
      <p:sp>
        <p:nvSpPr>
          <p:cNvPr id="26" name="Text 24"/>
          <p:cNvSpPr/>
          <p:nvPr/>
        </p:nvSpPr>
        <p:spPr>
          <a:xfrm>
            <a:off x="749808" y="4279392"/>
            <a:ext cx="5084064" cy="256032"/>
          </a:xfrm>
          <a:prstGeom prst="rect">
            <a:avLst/>
          </a:prstGeom>
          <a:noFill/>
          <a:ln/>
        </p:spPr>
        <p:txBody>
          <a:bodyPr wrap="square" lIns="0" tIns="0" rIns="0" bIns="0" rtlCol="0" anchor="ctr"/>
          <a:lstStyle/>
          <a:p>
            <a:pPr marL="0" indent="0">
              <a:buNone/>
            </a:pPr>
            <a:r>
              <a:rPr lang="en-US" sz="1400" b="1" dirty="0">
                <a:solidFill>
                  <a:srgbClr val="17324D"/>
                </a:solidFill>
                <a:latin typeface="Calibri" pitchFamily="34" charset="0"/>
                <a:ea typeface="Calibri" pitchFamily="34" charset="-122"/>
                <a:cs typeface="Calibri" pitchFamily="34" charset="-120"/>
              </a:rPr>
              <a:t>Where the standards sit</a:t>
            </a:r>
            <a:endParaRPr lang="en-US" sz="1400" dirty="0"/>
          </a:p>
        </p:txBody>
      </p:sp>
      <p:sp>
        <p:nvSpPr>
          <p:cNvPr id="27" name="Text 25"/>
          <p:cNvSpPr/>
          <p:nvPr/>
        </p:nvSpPr>
        <p:spPr>
          <a:xfrm>
            <a:off x="749808" y="4590288"/>
            <a:ext cx="5084064" cy="1481328"/>
          </a:xfrm>
          <a:prstGeom prst="rect">
            <a:avLst/>
          </a:prstGeom>
          <a:noFill/>
          <a:ln/>
        </p:spPr>
        <p:txBody>
          <a:bodyPr wrap="square" lIns="0" tIns="0" rIns="0" bIns="0" rtlCol="0" anchor="t"/>
          <a:lstStyle/>
          <a:p>
            <a:pPr marL="0" indent="0">
              <a:buNone/>
            </a:pPr>
            <a:r>
              <a:rPr lang="en-US" sz="1150" dirty="0">
                <a:solidFill>
                  <a:srgbClr val="1C2733"/>
                </a:solidFill>
                <a:latin typeface="Calibri" pitchFamily="34" charset="0"/>
                <a:ea typeface="Calibri" pitchFamily="34" charset="-122"/>
                <a:cs typeface="Calibri" pitchFamily="34" charset="-120"/>
              </a:rPr>
              <a:t>AS 1105 requires understanding the source of external electronic information and testing it or its controls — aligned with provenance, not a mandate to build a graph.</a:t>
            </a:r>
            <a:endParaRPr lang="en-US" sz="1150" dirty="0"/>
          </a:p>
          <a:p>
            <a:pPr marL="0" indent="0">
              <a:buNone/>
            </a:pP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The 14-day AS 1215 assembly window is already in force.</a:t>
            </a:r>
            <a:endParaRPr lang="en-US" sz="1150" dirty="0"/>
          </a:p>
        </p:txBody>
      </p:sp>
      <p:sp>
        <p:nvSpPr>
          <p:cNvPr id="28" name="Shape 26"/>
          <p:cNvSpPr/>
          <p:nvPr/>
        </p:nvSpPr>
        <p:spPr>
          <a:xfrm>
            <a:off x="6126480" y="4133088"/>
            <a:ext cx="5486400" cy="2084832"/>
          </a:xfrm>
          <a:prstGeom prst="roundRect">
            <a:avLst>
              <a:gd name="adj" fmla="val 2632"/>
            </a:avLst>
          </a:prstGeom>
          <a:solidFill>
            <a:srgbClr val="EEF4F7"/>
          </a:solidFill>
          <a:ln w="12700">
            <a:solidFill>
              <a:srgbClr val="C3D2DC"/>
            </a:solidFill>
            <a:prstDash val="solid"/>
          </a:ln>
        </p:spPr>
      </p:sp>
      <p:sp>
        <p:nvSpPr>
          <p:cNvPr id="29" name="Text 27"/>
          <p:cNvSpPr/>
          <p:nvPr/>
        </p:nvSpPr>
        <p:spPr>
          <a:xfrm>
            <a:off x="6327648" y="4279392"/>
            <a:ext cx="5084064" cy="256032"/>
          </a:xfrm>
          <a:prstGeom prst="rect">
            <a:avLst/>
          </a:prstGeom>
          <a:noFill/>
          <a:ln/>
        </p:spPr>
        <p:txBody>
          <a:bodyPr wrap="square" lIns="0" tIns="0" rIns="0" bIns="0" rtlCol="0" anchor="ctr"/>
          <a:lstStyle/>
          <a:p>
            <a:pPr marL="0" indent="0">
              <a:buNone/>
            </a:pPr>
            <a:r>
              <a:rPr lang="en-US" sz="1400" b="1" dirty="0">
                <a:solidFill>
                  <a:srgbClr val="7A2E3C"/>
                </a:solidFill>
                <a:latin typeface="Calibri" pitchFamily="34" charset="0"/>
                <a:ea typeface="Calibri" pitchFamily="34" charset="-122"/>
                <a:cs typeface="Calibri" pitchFamily="34" charset="-120"/>
              </a:rPr>
              <a:t>What it is not</a:t>
            </a:r>
            <a:endParaRPr lang="en-US" sz="1400" dirty="0"/>
          </a:p>
        </p:txBody>
      </p:sp>
      <p:sp>
        <p:nvSpPr>
          <p:cNvPr id="30" name="Text 28"/>
          <p:cNvSpPr/>
          <p:nvPr/>
        </p:nvSpPr>
        <p:spPr>
          <a:xfrm>
            <a:off x="6327648" y="4590288"/>
            <a:ext cx="5084064" cy="1481328"/>
          </a:xfrm>
          <a:prstGeom prst="rect">
            <a:avLst/>
          </a:prstGeom>
          <a:noFill/>
          <a:ln/>
        </p:spPr>
        <p:txBody>
          <a:bodyPr wrap="square" lIns="0" tIns="0" rIns="0" bIns="0" rtlCol="0" anchor="t"/>
          <a:lstStyle/>
          <a:p>
            <a:pPr marL="0" indent="0">
              <a:buNone/>
            </a:pPr>
            <a:r>
              <a:rPr lang="en-US" sz="1150" dirty="0">
                <a:solidFill>
                  <a:srgbClr val="1C2733"/>
                </a:solidFill>
                <a:latin typeface="Calibri" pitchFamily="34" charset="0"/>
                <a:ea typeface="Calibri" pitchFamily="34" charset="-122"/>
                <a:cs typeface="Calibri" pitchFamily="34" charset="-120"/>
              </a:rPr>
              <a:t>Not the AI replacing professional judgment. The graph makes machine-assisted work easier to inspect; the auditor still evaluates the evidence and reaches the audit judgment.</a:t>
            </a:r>
            <a:endParaRPr lang="en-US" sz="1150" dirty="0"/>
          </a:p>
          <a:p>
            <a:pPr marL="0" indent="0">
              <a:buNone/>
            </a:pPr>
            <a:endParaRPr lang="en-US" sz="1150" dirty="0"/>
          </a:p>
          <a:p>
            <a:pPr marL="0" indent="0">
              <a:buNone/>
            </a:pPr>
            <a:r>
              <a:rPr lang="en-US" sz="1150" dirty="0">
                <a:solidFill>
                  <a:srgbClr val="1C2733"/>
                </a:solidFill>
                <a:latin typeface="Calibri" pitchFamily="34" charset="0"/>
                <a:ea typeface="Calibri" pitchFamily="34" charset="-122"/>
                <a:cs typeface="Calibri" pitchFamily="34" charset="-120"/>
              </a:rPr>
              <a:t>A pattern to map onto your own work — not a claim about how any internal platform is built.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marL="0" indent="0">
              <a:buNone/>
            </a:pPr>
            <a:r>
              <a:rPr lang="en-US" sz="1100" b="1" kern="0" spc="160" dirty="0">
                <a:solidFill>
                  <a:srgbClr val="C2700A"/>
                </a:solidFill>
                <a:latin typeface="Calibri" pitchFamily="34" charset="0"/>
                <a:ea typeface="Calibri" pitchFamily="34" charset="-122"/>
                <a:cs typeface="Calibri" pitchFamily="34" charset="-120"/>
              </a:rPr>
              <a:t>THE SYSTEM</a:t>
            </a:r>
            <a:endParaRPr lang="en-US" sz="1100" dirty="0"/>
          </a:p>
        </p:txBody>
      </p:sp>
      <p:sp>
        <p:nvSpPr>
          <p:cNvPr id="3" name="Text 1"/>
          <p:cNvSpPr/>
          <p:nvPr/>
        </p:nvSpPr>
        <p:spPr>
          <a:xfrm>
            <a:off x="548640" y="658368"/>
            <a:ext cx="1060704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Architecture pattern</a:t>
            </a:r>
            <a:endParaRPr lang="en-US" sz="3200" dirty="0"/>
          </a:p>
        </p:txBody>
      </p:sp>
      <p:sp>
        <p:nvSpPr>
          <p:cNvPr id="4" name="Text 2"/>
          <p:cNvSpPr/>
          <p:nvPr/>
        </p:nvSpPr>
        <p:spPr>
          <a:xfrm>
            <a:off x="548640" y="1481328"/>
            <a:ext cx="11064240" cy="320040"/>
          </a:xfrm>
          <a:prstGeom prst="rect">
            <a:avLst/>
          </a:prstGeom>
          <a:noFill/>
          <a:ln/>
        </p:spPr>
        <p:txBody>
          <a:bodyPr wrap="square" lIns="0" tIns="0" rIns="0" bIns="0" rtlCol="0" anchor="ctr"/>
          <a:lstStyle/>
          <a:p>
            <a:pPr marL="0" indent="0">
              <a:buNone/>
            </a:pPr>
            <a:r>
              <a:rPr lang="en-US" sz="1400" dirty="0">
                <a:solidFill>
                  <a:srgbClr val="1C2733"/>
                </a:solidFill>
                <a:latin typeface="Calibri" pitchFamily="34" charset="0"/>
                <a:ea typeface="Calibri" pitchFamily="34" charset="-122"/>
                <a:cs typeface="Calibri" pitchFamily="34" charset="-120"/>
              </a:rPr>
              <a:t>Treat provenance as a first-class service, not a logging add-on.</a:t>
            </a:r>
            <a:endParaRPr lang="en-US" sz="1400" dirty="0"/>
          </a:p>
        </p:txBody>
      </p:sp>
      <p:sp>
        <p:nvSpPr>
          <p:cNvPr id="5" name="Shape 3"/>
          <p:cNvSpPr/>
          <p:nvPr/>
        </p:nvSpPr>
        <p:spPr>
          <a:xfrm>
            <a:off x="548640" y="1965960"/>
            <a:ext cx="2670048" cy="1737360"/>
          </a:xfrm>
          <a:prstGeom prst="roundRect">
            <a:avLst>
              <a:gd name="adj" fmla="val 3158"/>
            </a:avLst>
          </a:prstGeom>
          <a:solidFill>
            <a:srgbClr val="EEF4F7"/>
          </a:solidFill>
          <a:ln w="15875">
            <a:solidFill>
              <a:srgbClr val="0E7C86"/>
            </a:solidFill>
            <a:prstDash val="solid"/>
          </a:ln>
        </p:spPr>
      </p:sp>
      <p:sp>
        <p:nvSpPr>
          <p:cNvPr id="6" name="Text 4"/>
          <p:cNvSpPr/>
          <p:nvPr/>
        </p:nvSpPr>
        <p:spPr>
          <a:xfrm>
            <a:off x="749808" y="2157984"/>
            <a:ext cx="2267712" cy="310896"/>
          </a:xfrm>
          <a:prstGeom prst="rect">
            <a:avLst/>
          </a:prstGeom>
          <a:noFill/>
          <a:ln/>
        </p:spPr>
        <p:txBody>
          <a:bodyPr wrap="square" lIns="0" tIns="0" rIns="0" bIns="0"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Agent runtime</a:t>
            </a:r>
            <a:endParaRPr lang="en-US" sz="1300" dirty="0"/>
          </a:p>
        </p:txBody>
      </p:sp>
      <p:sp>
        <p:nvSpPr>
          <p:cNvPr id="7" name="Text 5"/>
          <p:cNvSpPr/>
          <p:nvPr/>
        </p:nvSpPr>
        <p:spPr>
          <a:xfrm>
            <a:off x="749808" y="2523744"/>
            <a:ext cx="2267712" cy="868680"/>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Framework-level hooks emit structured trace events</a:t>
            </a:r>
            <a:endParaRPr lang="en-US" sz="1100" dirty="0"/>
          </a:p>
        </p:txBody>
      </p:sp>
      <p:sp>
        <p:nvSpPr>
          <p:cNvPr id="8" name="Shape 6"/>
          <p:cNvSpPr/>
          <p:nvPr/>
        </p:nvSpPr>
        <p:spPr>
          <a:xfrm>
            <a:off x="3246120" y="2834640"/>
            <a:ext cx="155448" cy="0"/>
          </a:xfrm>
          <a:prstGeom prst="line">
            <a:avLst/>
          </a:prstGeom>
          <a:noFill/>
          <a:ln w="19050">
            <a:solidFill>
              <a:srgbClr val="5A6B7A"/>
            </a:solidFill>
            <a:prstDash val="solid"/>
            <a:headEnd type="none"/>
            <a:tailEnd type="triangle"/>
          </a:ln>
        </p:spPr>
      </p:sp>
      <p:sp>
        <p:nvSpPr>
          <p:cNvPr id="9" name="Shape 7"/>
          <p:cNvSpPr/>
          <p:nvPr/>
        </p:nvSpPr>
        <p:spPr>
          <a:xfrm>
            <a:off x="3429000" y="1965960"/>
            <a:ext cx="2670048" cy="1737360"/>
          </a:xfrm>
          <a:prstGeom prst="roundRect">
            <a:avLst>
              <a:gd name="adj" fmla="val 3158"/>
            </a:avLst>
          </a:prstGeom>
          <a:solidFill>
            <a:srgbClr val="EEF4F7"/>
          </a:solidFill>
          <a:ln w="15875">
            <a:solidFill>
              <a:srgbClr val="17324D"/>
            </a:solidFill>
            <a:prstDash val="solid"/>
          </a:ln>
        </p:spPr>
      </p:sp>
      <p:sp>
        <p:nvSpPr>
          <p:cNvPr id="10" name="Text 8"/>
          <p:cNvSpPr/>
          <p:nvPr/>
        </p:nvSpPr>
        <p:spPr>
          <a:xfrm>
            <a:off x="3630168" y="2157984"/>
            <a:ext cx="2267712" cy="310896"/>
          </a:xfrm>
          <a:prstGeom prst="rect">
            <a:avLst/>
          </a:prstGeom>
          <a:noFill/>
          <a:ln/>
        </p:spPr>
        <p:txBody>
          <a:bodyPr wrap="square" lIns="0" tIns="0" rIns="0" bIns="0" rtlCol="0" anchor="ctr"/>
          <a:lstStyle/>
          <a:p>
            <a:pPr marL="0" indent="0">
              <a:buNone/>
            </a:pPr>
            <a:r>
              <a:rPr lang="en-US" sz="1300" b="1" dirty="0">
                <a:solidFill>
                  <a:srgbClr val="17324D"/>
                </a:solidFill>
                <a:latin typeface="Calibri" pitchFamily="34" charset="0"/>
                <a:ea typeface="Calibri" pitchFamily="34" charset="-122"/>
                <a:cs typeface="Calibri" pitchFamily="34" charset="-120"/>
              </a:rPr>
              <a:t>Provenance store</a:t>
            </a:r>
            <a:endParaRPr lang="en-US" sz="1300" dirty="0"/>
          </a:p>
        </p:txBody>
      </p:sp>
      <p:sp>
        <p:nvSpPr>
          <p:cNvPr id="11" name="Text 9"/>
          <p:cNvSpPr/>
          <p:nvPr/>
        </p:nvSpPr>
        <p:spPr>
          <a:xfrm>
            <a:off x="3630168" y="2523744"/>
            <a:ext cx="2267712" cy="868680"/>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Typed nodes, labeled edges, fast ancestor + descendant queries</a:t>
            </a:r>
            <a:endParaRPr lang="en-US" sz="1100" dirty="0"/>
          </a:p>
        </p:txBody>
      </p:sp>
      <p:sp>
        <p:nvSpPr>
          <p:cNvPr id="12" name="Shape 10"/>
          <p:cNvSpPr/>
          <p:nvPr/>
        </p:nvSpPr>
        <p:spPr>
          <a:xfrm>
            <a:off x="6126480" y="2834640"/>
            <a:ext cx="155448" cy="0"/>
          </a:xfrm>
          <a:prstGeom prst="line">
            <a:avLst/>
          </a:prstGeom>
          <a:noFill/>
          <a:ln w="19050">
            <a:solidFill>
              <a:srgbClr val="5A6B7A"/>
            </a:solidFill>
            <a:prstDash val="solid"/>
            <a:headEnd type="none"/>
            <a:tailEnd type="triangle"/>
          </a:ln>
        </p:spPr>
      </p:sp>
      <p:sp>
        <p:nvSpPr>
          <p:cNvPr id="13" name="Shape 11"/>
          <p:cNvSpPr/>
          <p:nvPr/>
        </p:nvSpPr>
        <p:spPr>
          <a:xfrm>
            <a:off x="6309360" y="1965960"/>
            <a:ext cx="2670048" cy="1737360"/>
          </a:xfrm>
          <a:prstGeom prst="roundRect">
            <a:avLst>
              <a:gd name="adj" fmla="val 3158"/>
            </a:avLst>
          </a:prstGeom>
          <a:solidFill>
            <a:srgbClr val="EEF4F7"/>
          </a:solidFill>
          <a:ln w="15875">
            <a:solidFill>
              <a:srgbClr val="C2700A"/>
            </a:solidFill>
            <a:prstDash val="solid"/>
          </a:ln>
        </p:spPr>
      </p:sp>
      <p:sp>
        <p:nvSpPr>
          <p:cNvPr id="14" name="Text 12"/>
          <p:cNvSpPr/>
          <p:nvPr/>
        </p:nvSpPr>
        <p:spPr>
          <a:xfrm>
            <a:off x="6510528" y="2157984"/>
            <a:ext cx="2267712" cy="310896"/>
          </a:xfrm>
          <a:prstGeom prst="rect">
            <a:avLst/>
          </a:prstGeom>
          <a:noFill/>
          <a:ln/>
        </p:spPr>
        <p:txBody>
          <a:bodyPr wrap="square" lIns="0" tIns="0" rIns="0" bIns="0" rtlCol="0" anchor="ctr"/>
          <a:lstStyle/>
          <a:p>
            <a:pPr marL="0" indent="0">
              <a:buNone/>
            </a:pPr>
            <a:r>
              <a:rPr lang="en-US" sz="1300" b="1" dirty="0">
                <a:solidFill>
                  <a:srgbClr val="C2700A"/>
                </a:solidFill>
                <a:latin typeface="Calibri" pitchFamily="34" charset="0"/>
                <a:ea typeface="Calibri" pitchFamily="34" charset="-122"/>
                <a:cs typeface="Calibri" pitchFamily="34" charset="-120"/>
              </a:rPr>
              <a:t>Reviewer interface</a:t>
            </a:r>
            <a:endParaRPr lang="en-US" sz="1300" dirty="0"/>
          </a:p>
        </p:txBody>
      </p:sp>
      <p:sp>
        <p:nvSpPr>
          <p:cNvPr id="15" name="Text 13"/>
          <p:cNvSpPr/>
          <p:nvPr/>
        </p:nvSpPr>
        <p:spPr>
          <a:xfrm>
            <a:off x="6510528" y="2523744"/>
            <a:ext cx="2267712" cy="868680"/>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Lineage views, evidence slices for a claim under review</a:t>
            </a:r>
            <a:endParaRPr lang="en-US" sz="1100" dirty="0"/>
          </a:p>
        </p:txBody>
      </p:sp>
      <p:sp>
        <p:nvSpPr>
          <p:cNvPr id="16" name="Shape 14"/>
          <p:cNvSpPr/>
          <p:nvPr/>
        </p:nvSpPr>
        <p:spPr>
          <a:xfrm>
            <a:off x="9006840" y="2834640"/>
            <a:ext cx="155448" cy="0"/>
          </a:xfrm>
          <a:prstGeom prst="line">
            <a:avLst/>
          </a:prstGeom>
          <a:noFill/>
          <a:ln w="19050">
            <a:solidFill>
              <a:srgbClr val="5A6B7A"/>
            </a:solidFill>
            <a:prstDash val="solid"/>
            <a:headEnd type="none"/>
            <a:tailEnd type="triangle"/>
          </a:ln>
        </p:spPr>
      </p:sp>
      <p:sp>
        <p:nvSpPr>
          <p:cNvPr id="17" name="Shape 15"/>
          <p:cNvSpPr/>
          <p:nvPr/>
        </p:nvSpPr>
        <p:spPr>
          <a:xfrm>
            <a:off x="9189720" y="1965960"/>
            <a:ext cx="2670048" cy="1737360"/>
          </a:xfrm>
          <a:prstGeom prst="roundRect">
            <a:avLst>
              <a:gd name="adj" fmla="val 3158"/>
            </a:avLst>
          </a:prstGeom>
          <a:solidFill>
            <a:srgbClr val="EEF4F7"/>
          </a:solidFill>
          <a:ln w="15875">
            <a:solidFill>
              <a:srgbClr val="7A2E3C"/>
            </a:solidFill>
            <a:prstDash val="solid"/>
          </a:ln>
        </p:spPr>
      </p:sp>
      <p:sp>
        <p:nvSpPr>
          <p:cNvPr id="18" name="Text 16"/>
          <p:cNvSpPr/>
          <p:nvPr/>
        </p:nvSpPr>
        <p:spPr>
          <a:xfrm>
            <a:off x="9390888" y="2157984"/>
            <a:ext cx="2267712" cy="310896"/>
          </a:xfrm>
          <a:prstGeom prst="rect">
            <a:avLst/>
          </a:prstGeom>
          <a:noFill/>
          <a:ln/>
        </p:spPr>
        <p:txBody>
          <a:bodyPr wrap="square" lIns="0" tIns="0" rIns="0" bIns="0" rtlCol="0" anchor="ctr"/>
          <a:lstStyle/>
          <a:p>
            <a:pPr marL="0" indent="0">
              <a:buNone/>
            </a:pPr>
            <a:r>
              <a:rPr lang="en-US" sz="1300" b="1" dirty="0">
                <a:solidFill>
                  <a:srgbClr val="7A2E3C"/>
                </a:solidFill>
                <a:latin typeface="Calibri" pitchFamily="34" charset="0"/>
                <a:ea typeface="Calibri" pitchFamily="34" charset="-122"/>
                <a:cs typeface="Calibri" pitchFamily="34" charset="-120"/>
              </a:rPr>
              <a:t>Governance layer</a:t>
            </a:r>
            <a:endParaRPr lang="en-US" sz="1300" dirty="0"/>
          </a:p>
        </p:txBody>
      </p:sp>
      <p:sp>
        <p:nvSpPr>
          <p:cNvPr id="19" name="Text 17"/>
          <p:cNvSpPr/>
          <p:nvPr/>
        </p:nvSpPr>
        <p:spPr>
          <a:xfrm>
            <a:off x="9390888" y="2523744"/>
            <a:ext cx="2267712" cy="868680"/>
          </a:xfrm>
          <a:prstGeom prst="rect">
            <a:avLst/>
          </a:prstGeom>
          <a:noFill/>
          <a:ln/>
        </p:spPr>
        <p:txBody>
          <a:bodyPr wrap="square" lIns="0" tIns="0" rIns="0" bIns="0" rtlCol="0" anchor="t"/>
          <a:lstStyle/>
          <a:p>
            <a:pPr marL="0" indent="0">
              <a:buNone/>
            </a:pPr>
            <a:r>
              <a:rPr lang="en-US" sz="1100" dirty="0">
                <a:solidFill>
                  <a:srgbClr val="1C2733"/>
                </a:solidFill>
                <a:latin typeface="Calibri" pitchFamily="34" charset="0"/>
                <a:ea typeface="Calibri" pitchFamily="34" charset="-122"/>
                <a:cs typeface="Calibri" pitchFamily="34" charset="-120"/>
              </a:rPr>
              <a:t>Retention, privacy, access control over the graph itself</a:t>
            </a:r>
            <a:endParaRPr lang="en-US" sz="1100" dirty="0"/>
          </a:p>
        </p:txBody>
      </p:sp>
      <p:sp>
        <p:nvSpPr>
          <p:cNvPr id="20" name="Shape 18"/>
          <p:cNvSpPr/>
          <p:nvPr/>
        </p:nvSpPr>
        <p:spPr>
          <a:xfrm>
            <a:off x="548640" y="3977640"/>
            <a:ext cx="11064240" cy="1783080"/>
          </a:xfrm>
          <a:prstGeom prst="roundRect">
            <a:avLst>
              <a:gd name="adj" fmla="val 3077"/>
            </a:avLst>
          </a:prstGeom>
          <a:solidFill>
            <a:srgbClr val="FDF2F2"/>
          </a:solidFill>
          <a:ln w="19050">
            <a:solidFill>
              <a:srgbClr val="7A2E3C"/>
            </a:solidFill>
            <a:prstDash val="solid"/>
          </a:ln>
        </p:spPr>
      </p:sp>
      <p:sp>
        <p:nvSpPr>
          <p:cNvPr id="21" name="Text 19"/>
          <p:cNvSpPr/>
          <p:nvPr/>
        </p:nvSpPr>
        <p:spPr>
          <a:xfrm>
            <a:off x="822960" y="4169664"/>
            <a:ext cx="10515600" cy="292608"/>
          </a:xfrm>
          <a:prstGeom prst="rect">
            <a:avLst/>
          </a:prstGeom>
          <a:noFill/>
          <a:ln/>
        </p:spPr>
        <p:txBody>
          <a:bodyPr wrap="square" lIns="0" tIns="0" rIns="0" bIns="0" rtlCol="0" anchor="ctr"/>
          <a:lstStyle/>
          <a:p>
            <a:pPr marL="0" indent="0">
              <a:buNone/>
            </a:pPr>
            <a:r>
              <a:rPr lang="en-US" sz="1400" b="1" dirty="0">
                <a:solidFill>
                  <a:srgbClr val="7A2E3C"/>
                </a:solidFill>
                <a:latin typeface="Calibri" pitchFamily="34" charset="0"/>
                <a:ea typeface="Calibri" pitchFamily="34" charset="-122"/>
                <a:cs typeface="Calibri" pitchFamily="34" charset="-120"/>
              </a:rPr>
              <a:t>Trust boundary — the precondition, not a detail</a:t>
            </a:r>
            <a:endParaRPr lang="en-US" sz="1400" dirty="0"/>
          </a:p>
        </p:txBody>
      </p:sp>
      <p:sp>
        <p:nvSpPr>
          <p:cNvPr id="22" name="Text 20"/>
          <p:cNvSpPr/>
          <p:nvPr/>
        </p:nvSpPr>
        <p:spPr>
          <a:xfrm>
            <a:off x="822960" y="4535424"/>
            <a:ext cx="10515600" cy="603504"/>
          </a:xfrm>
          <a:prstGeom prst="rect">
            <a:avLst/>
          </a:prstGeom>
          <a:noFill/>
          <a:ln/>
        </p:spPr>
        <p:txBody>
          <a:bodyPr wrap="square" lIns="0" tIns="0" rIns="0" bIns="0" rtlCol="0" anchor="t"/>
          <a:lstStyle/>
          <a:p>
            <a:pPr marL="0" indent="0">
              <a:buNone/>
            </a:pPr>
            <a:r>
              <a:rPr lang="en-US" sz="1150" dirty="0">
                <a:solidFill>
                  <a:srgbClr val="1C2733"/>
                </a:solidFill>
                <a:latin typeface="Calibri" pitchFamily="34" charset="0"/>
                <a:ea typeface="Calibri" pitchFamily="34" charset="-122"/>
                <a:cs typeface="Calibri" pitchFamily="34" charset="-120"/>
              </a:rPr>
              <a:t>Capture complete at the runtime boundary   ·   immutable event identity   ·   source snapshots and as-of identifiers   ·   reconciled against independent runtime events   ·   tamper-resistant and governed at least as strictly as the evidence it points to</a:t>
            </a:r>
            <a:endParaRPr lang="en-US" sz="1150" dirty="0"/>
          </a:p>
        </p:txBody>
      </p:sp>
      <p:sp>
        <p:nvSpPr>
          <p:cNvPr id="23" name="Text 21"/>
          <p:cNvSpPr/>
          <p:nvPr/>
        </p:nvSpPr>
        <p:spPr>
          <a:xfrm>
            <a:off x="822960" y="5230368"/>
            <a:ext cx="10515600" cy="292608"/>
          </a:xfrm>
          <a:prstGeom prst="rect">
            <a:avLst/>
          </a:prstGeom>
          <a:noFill/>
          <a:ln/>
        </p:spPr>
        <p:txBody>
          <a:bodyPr wrap="square" lIns="0" tIns="0" rIns="0" bIns="0" rtlCol="0" anchor="ctr"/>
          <a:lstStyle/>
          <a:p>
            <a:pPr marL="0" indent="0">
              <a:buNone/>
            </a:pPr>
            <a:r>
              <a:rPr lang="en-US" sz="1150" b="1" i="1" dirty="0">
                <a:solidFill>
                  <a:srgbClr val="7A2E3C"/>
                </a:solidFill>
                <a:latin typeface="Calibri" pitchFamily="34" charset="0"/>
                <a:ea typeface="Calibri" pitchFamily="34" charset="-122"/>
                <a:cs typeface="Calibri" pitchFamily="34" charset="-120"/>
              </a:rPr>
              <a:t>An incomplete or editable lineage graph is arguably worse than none — because it looks authoritative.</a:t>
            </a:r>
            <a:endParaRPr lang="en-US" sz="1150" dirty="0"/>
          </a:p>
        </p:txBody>
      </p:sp>
      <p:sp>
        <p:nvSpPr>
          <p:cNvPr id="24" name="Text 22"/>
          <p:cNvSpPr/>
          <p:nvPr/>
        </p:nvSpPr>
        <p:spPr>
          <a:xfrm>
            <a:off x="566928" y="5989320"/>
            <a:ext cx="11064240" cy="274320"/>
          </a:xfrm>
          <a:prstGeom prst="rect">
            <a:avLst/>
          </a:prstGeom>
          <a:noFill/>
          <a:ln/>
        </p:spPr>
        <p:txBody>
          <a:bodyPr wrap="square" lIns="0" tIns="0" rIns="0" bIns="0" rtlCol="0" anchor="ctr"/>
          <a:lstStyle/>
          <a:p>
            <a:pPr marL="0" indent="0">
              <a:buNone/>
            </a:pPr>
            <a:r>
              <a:rPr lang="en-US" sz="1050" i="1" dirty="0">
                <a:solidFill>
                  <a:srgbClr val="5A6B7A"/>
                </a:solidFill>
                <a:latin typeface="Calibri" pitchFamily="34" charset="0"/>
                <a:ea typeface="Calibri" pitchFamily="34" charset="-122"/>
                <a:cs typeface="Calibri" pitchFamily="34" charset="-120"/>
              </a:rPr>
              <a:t>Lineage data is itself sensitive: it can reveal client data, internal processing, and more of the agent execution than a normal application log.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324D"/>
        </a:solidFill>
        <a:effectLst/>
      </p:bgPr>
    </p:bg>
    <p:spTree>
      <p:nvGrpSpPr>
        <p:cNvPr id="1" name=""/>
        <p:cNvGrpSpPr/>
        <p:nvPr/>
      </p:nvGrpSpPr>
      <p:grpSpPr>
        <a:xfrm>
          <a:off x="0" y="0"/>
          <a:ext cx="0" cy="0"/>
          <a:chOff x="0" y="0"/>
          <a:chExt cx="0" cy="0"/>
        </a:xfrm>
      </p:grpSpPr>
      <p:sp>
        <p:nvSpPr>
          <p:cNvPr id="2" name="Text 0"/>
          <p:cNvSpPr/>
          <p:nvPr/>
        </p:nvSpPr>
        <p:spPr>
          <a:xfrm>
            <a:off x="566928" y="502920"/>
            <a:ext cx="7315200" cy="274320"/>
          </a:xfrm>
          <a:prstGeom prst="rect">
            <a:avLst/>
          </a:prstGeom>
          <a:noFill/>
          <a:ln/>
        </p:spPr>
        <p:txBody>
          <a:bodyPr wrap="square" lIns="0" tIns="0" rIns="0" bIns="0" rtlCol="0" anchor="ctr"/>
          <a:lstStyle/>
          <a:p>
            <a:pPr marL="0" indent="0">
              <a:buNone/>
            </a:pPr>
            <a:r>
              <a:rPr lang="en-US" sz="1100" b="1" kern="0" spc="180" dirty="0">
                <a:solidFill>
                  <a:srgbClr val="C2700A"/>
                </a:solidFill>
                <a:latin typeface="Calibri" pitchFamily="34" charset="0"/>
                <a:ea typeface="Calibri" pitchFamily="34" charset="-122"/>
                <a:cs typeface="Calibri" pitchFamily="34" charset="-120"/>
              </a:rPr>
              <a:t>TAKEAWAYS</a:t>
            </a:r>
            <a:endParaRPr lang="en-US" sz="1100" dirty="0"/>
          </a:p>
        </p:txBody>
      </p:sp>
      <p:sp>
        <p:nvSpPr>
          <p:cNvPr id="3" name="Text 1"/>
          <p:cNvSpPr/>
          <p:nvPr/>
        </p:nvSpPr>
        <p:spPr>
          <a:xfrm>
            <a:off x="548640" y="841248"/>
            <a:ext cx="1106424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Design for traceability at the same time as capability</a:t>
            </a:r>
            <a:endParaRPr lang="en-US" sz="3000" dirty="0"/>
          </a:p>
        </p:txBody>
      </p:sp>
      <p:sp>
        <p:nvSpPr>
          <p:cNvPr id="4" name="Shape 2"/>
          <p:cNvSpPr/>
          <p:nvPr/>
        </p:nvSpPr>
        <p:spPr>
          <a:xfrm>
            <a:off x="548640" y="1645920"/>
            <a:ext cx="3584448" cy="1874520"/>
          </a:xfrm>
          <a:prstGeom prst="roundRect">
            <a:avLst>
              <a:gd name="adj" fmla="val 2927"/>
            </a:avLst>
          </a:prstGeom>
          <a:solidFill>
            <a:srgbClr val="24486A"/>
          </a:solidFill>
          <a:ln w="12700">
            <a:solidFill>
              <a:srgbClr val="3C6488"/>
            </a:solidFill>
            <a:prstDash val="solid"/>
          </a:ln>
        </p:spPr>
      </p:sp>
      <p:sp>
        <p:nvSpPr>
          <p:cNvPr id="5" name="Text 3"/>
          <p:cNvSpPr/>
          <p:nvPr/>
        </p:nvSpPr>
        <p:spPr>
          <a:xfrm>
            <a:off x="768096" y="1792224"/>
            <a:ext cx="457200" cy="384048"/>
          </a:xfrm>
          <a:prstGeom prst="rect">
            <a:avLst/>
          </a:prstGeom>
          <a:noFill/>
          <a:ln/>
        </p:spPr>
        <p:txBody>
          <a:bodyPr wrap="square" lIns="0" tIns="0" rIns="0" bIns="0" rtlCol="0" anchor="ctr"/>
          <a:lstStyle/>
          <a:p>
            <a:pPr marL="0" indent="0">
              <a:buNone/>
            </a:pPr>
            <a:r>
              <a:rPr lang="en-US" sz="2400" b="1" dirty="0">
                <a:solidFill>
                  <a:srgbClr val="C2700A"/>
                </a:solidFill>
                <a:latin typeface="Cambria" pitchFamily="34" charset="0"/>
                <a:ea typeface="Cambria" pitchFamily="34" charset="-122"/>
                <a:cs typeface="Cambria" pitchFamily="34" charset="-120"/>
              </a:rPr>
              <a:t>1</a:t>
            </a:r>
            <a:endParaRPr lang="en-US" sz="2400" dirty="0"/>
          </a:p>
        </p:txBody>
      </p:sp>
      <p:sp>
        <p:nvSpPr>
          <p:cNvPr id="6" name="Text 4"/>
          <p:cNvSpPr/>
          <p:nvPr/>
        </p:nvSpPr>
        <p:spPr>
          <a:xfrm>
            <a:off x="768096" y="2231136"/>
            <a:ext cx="3145536"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dependency trail</a:t>
            </a:r>
            <a:endParaRPr lang="en-US" sz="1400" dirty="0"/>
          </a:p>
        </p:txBody>
      </p:sp>
      <p:sp>
        <p:nvSpPr>
          <p:cNvPr id="7" name="Text 5"/>
          <p:cNvSpPr/>
          <p:nvPr/>
        </p:nvSpPr>
        <p:spPr>
          <a:xfrm>
            <a:off x="768096" y="2578608"/>
            <a:ext cx="3145536" cy="86868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An execution provenance graph is the “why” trail of an agent run — evidence, observations, tool activity, intermediate claims, conclusions.</a:t>
            </a:r>
            <a:endParaRPr lang="en-US" sz="1100" dirty="0"/>
          </a:p>
        </p:txBody>
      </p:sp>
      <p:sp>
        <p:nvSpPr>
          <p:cNvPr id="8" name="Shape 6"/>
          <p:cNvSpPr/>
          <p:nvPr/>
        </p:nvSpPr>
        <p:spPr>
          <a:xfrm>
            <a:off x="4334256" y="1645920"/>
            <a:ext cx="3584448" cy="1874520"/>
          </a:xfrm>
          <a:prstGeom prst="roundRect">
            <a:avLst>
              <a:gd name="adj" fmla="val 2927"/>
            </a:avLst>
          </a:prstGeom>
          <a:solidFill>
            <a:srgbClr val="24486A"/>
          </a:solidFill>
          <a:ln w="12700">
            <a:solidFill>
              <a:srgbClr val="3C6488"/>
            </a:solidFill>
            <a:prstDash val="solid"/>
          </a:ln>
        </p:spPr>
      </p:sp>
      <p:sp>
        <p:nvSpPr>
          <p:cNvPr id="9" name="Text 7"/>
          <p:cNvSpPr/>
          <p:nvPr/>
        </p:nvSpPr>
        <p:spPr>
          <a:xfrm>
            <a:off x="4553712" y="1792224"/>
            <a:ext cx="457200" cy="384048"/>
          </a:xfrm>
          <a:prstGeom prst="rect">
            <a:avLst/>
          </a:prstGeom>
          <a:noFill/>
          <a:ln/>
        </p:spPr>
        <p:txBody>
          <a:bodyPr wrap="square" lIns="0" tIns="0" rIns="0" bIns="0" rtlCol="0" anchor="ctr"/>
          <a:lstStyle/>
          <a:p>
            <a:pPr marL="0" indent="0">
              <a:buNone/>
            </a:pPr>
            <a:r>
              <a:rPr lang="en-US" sz="2400" b="1" dirty="0">
                <a:solidFill>
                  <a:srgbClr val="C2700A"/>
                </a:solidFill>
                <a:latin typeface="Cambria" pitchFamily="34" charset="0"/>
                <a:ea typeface="Cambria" pitchFamily="34" charset="-122"/>
                <a:cs typeface="Cambria" pitchFamily="34" charset="-120"/>
              </a:rPr>
              <a:t>2</a:t>
            </a:r>
            <a:endParaRPr lang="en-US" sz="2400" dirty="0"/>
          </a:p>
        </p:txBody>
      </p:sp>
      <p:sp>
        <p:nvSpPr>
          <p:cNvPr id="10" name="Text 8"/>
          <p:cNvSpPr/>
          <p:nvPr/>
        </p:nvSpPr>
        <p:spPr>
          <a:xfrm>
            <a:off x="4553712" y="2231136"/>
            <a:ext cx="3145536"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Traversal both ways</a:t>
            </a:r>
            <a:endParaRPr lang="en-US" sz="1400" dirty="0"/>
          </a:p>
        </p:txBody>
      </p:sp>
      <p:sp>
        <p:nvSpPr>
          <p:cNvPr id="11" name="Text 9"/>
          <p:cNvSpPr/>
          <p:nvPr/>
        </p:nvSpPr>
        <p:spPr>
          <a:xfrm>
            <a:off x="4553712" y="2578608"/>
            <a:ext cx="3145536" cy="86868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From a finding back to exact evidence, and from a changed source forward to every potentially affected conclusion.</a:t>
            </a:r>
            <a:endParaRPr lang="en-US" sz="1100" dirty="0"/>
          </a:p>
        </p:txBody>
      </p:sp>
      <p:sp>
        <p:nvSpPr>
          <p:cNvPr id="12" name="Shape 10"/>
          <p:cNvSpPr/>
          <p:nvPr/>
        </p:nvSpPr>
        <p:spPr>
          <a:xfrm>
            <a:off x="8119872" y="1645920"/>
            <a:ext cx="3584448" cy="1874520"/>
          </a:xfrm>
          <a:prstGeom prst="roundRect">
            <a:avLst>
              <a:gd name="adj" fmla="val 2927"/>
            </a:avLst>
          </a:prstGeom>
          <a:solidFill>
            <a:srgbClr val="24486A"/>
          </a:solidFill>
          <a:ln w="12700">
            <a:solidFill>
              <a:srgbClr val="3C6488"/>
            </a:solidFill>
            <a:prstDash val="solid"/>
          </a:ln>
        </p:spPr>
      </p:sp>
      <p:sp>
        <p:nvSpPr>
          <p:cNvPr id="13" name="Text 11"/>
          <p:cNvSpPr/>
          <p:nvPr/>
        </p:nvSpPr>
        <p:spPr>
          <a:xfrm>
            <a:off x="8339328" y="1792224"/>
            <a:ext cx="457200" cy="384048"/>
          </a:xfrm>
          <a:prstGeom prst="rect">
            <a:avLst/>
          </a:prstGeom>
          <a:noFill/>
          <a:ln/>
        </p:spPr>
        <p:txBody>
          <a:bodyPr wrap="square" lIns="0" tIns="0" rIns="0" bIns="0" rtlCol="0" anchor="ctr"/>
          <a:lstStyle/>
          <a:p>
            <a:pPr marL="0" indent="0">
              <a:buNone/>
            </a:pPr>
            <a:r>
              <a:rPr lang="en-US" sz="2400" b="1" dirty="0">
                <a:solidFill>
                  <a:srgbClr val="C2700A"/>
                </a:solidFill>
                <a:latin typeface="Cambria" pitchFamily="34" charset="0"/>
                <a:ea typeface="Cambria" pitchFamily="34" charset="-122"/>
                <a:cs typeface="Cambria" pitchFamily="34" charset="-120"/>
              </a:rPr>
              <a:t>3</a:t>
            </a:r>
            <a:endParaRPr lang="en-US" sz="2400" dirty="0"/>
          </a:p>
        </p:txBody>
      </p:sp>
      <p:sp>
        <p:nvSpPr>
          <p:cNvPr id="14" name="Text 12"/>
          <p:cNvSpPr/>
          <p:nvPr/>
        </p:nvSpPr>
        <p:spPr>
          <a:xfrm>
            <a:off x="8339328" y="2231136"/>
            <a:ext cx="3145536"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Build it into the runtime</a:t>
            </a:r>
            <a:endParaRPr lang="en-US" sz="1400" dirty="0"/>
          </a:p>
        </p:txBody>
      </p:sp>
      <p:sp>
        <p:nvSpPr>
          <p:cNvPr id="15" name="Text 13"/>
          <p:cNvSpPr/>
          <p:nvPr/>
        </p:nvSpPr>
        <p:spPr>
          <a:xfrm>
            <a:off x="8339328" y="2578608"/>
            <a:ext cx="3145536" cy="868680"/>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Typed nodes, labeled edges, stable IDs, precise source locators, versioned tools.</a:t>
            </a:r>
            <a:endParaRPr lang="en-US" sz="1100" dirty="0"/>
          </a:p>
        </p:txBody>
      </p:sp>
      <p:sp>
        <p:nvSpPr>
          <p:cNvPr id="16" name="Shape 14"/>
          <p:cNvSpPr/>
          <p:nvPr/>
        </p:nvSpPr>
        <p:spPr>
          <a:xfrm>
            <a:off x="548640" y="3749040"/>
            <a:ext cx="6053328" cy="1874520"/>
          </a:xfrm>
          <a:prstGeom prst="roundRect">
            <a:avLst>
              <a:gd name="adj" fmla="val 2927"/>
            </a:avLst>
          </a:prstGeom>
          <a:solidFill>
            <a:srgbClr val="3A2430"/>
          </a:solidFill>
          <a:ln w="15875">
            <a:solidFill>
              <a:srgbClr val="8C5566"/>
            </a:solidFill>
            <a:prstDash val="solid"/>
          </a:ln>
        </p:spPr>
      </p:sp>
      <p:sp>
        <p:nvSpPr>
          <p:cNvPr id="17" name="Text 15"/>
          <p:cNvSpPr/>
          <p:nvPr/>
        </p:nvSpPr>
        <p:spPr>
          <a:xfrm>
            <a:off x="786384" y="3913632"/>
            <a:ext cx="5577840" cy="274320"/>
          </a:xfrm>
          <a:prstGeom prst="rect">
            <a:avLst/>
          </a:prstGeom>
          <a:noFill/>
          <a:ln/>
        </p:spPr>
        <p:txBody>
          <a:bodyPr wrap="square" lIns="0" tIns="0" rIns="0" bIns="0" rtlCol="0" anchor="ctr"/>
          <a:lstStyle/>
          <a:p>
            <a:pPr marL="0" indent="0">
              <a:buNone/>
            </a:pPr>
            <a:r>
              <a:rPr lang="en-US" sz="1300" b="1" dirty="0">
                <a:solidFill>
                  <a:srgbClr val="F0B8C4"/>
                </a:solidFill>
                <a:latin typeface="Calibri" pitchFamily="34" charset="0"/>
                <a:ea typeface="Calibri" pitchFamily="34" charset="-122"/>
                <a:cs typeface="Calibri" pitchFamily="34" charset="-120"/>
              </a:rPr>
              <a:t>The honest caveat</a:t>
            </a:r>
            <a:endParaRPr lang="en-US" sz="1300" dirty="0"/>
          </a:p>
        </p:txBody>
      </p:sp>
      <p:sp>
        <p:nvSpPr>
          <p:cNvPr id="18" name="Text 16"/>
          <p:cNvSpPr/>
          <p:nvPr/>
        </p:nvSpPr>
        <p:spPr>
          <a:xfrm>
            <a:off x="786384" y="4242816"/>
            <a:ext cx="5577840" cy="1298448"/>
          </a:xfrm>
          <a:prstGeom prst="rect">
            <a:avLst/>
          </a:prstGeom>
          <a:noFill/>
          <a:ln/>
        </p:spPr>
        <p:txBody>
          <a:bodyPr wrap="square" lIns="0" tIns="0" rIns="0" bIns="0" rtlCol="0" anchor="t"/>
          <a:lstStyle/>
          <a:p>
            <a:pPr marL="0" indent="0">
              <a:buNone/>
            </a:pPr>
            <a:r>
              <a:rPr lang="en-US" sz="1100" dirty="0">
                <a:solidFill>
                  <a:srgbClr val="F3DDE3"/>
                </a:solidFill>
                <a:latin typeface="Calibri" pitchFamily="34" charset="0"/>
                <a:ea typeface="Calibri" pitchFamily="34" charset="-122"/>
                <a:cs typeface="Calibri" pitchFamily="34" charset="-120"/>
              </a:rPr>
              <a:t>A perfectly traced conclusion can still be wrong, and provenance does not make a source reliable.</a:t>
            </a:r>
            <a:endParaRPr lang="en-US" sz="1100" dirty="0"/>
          </a:p>
          <a:p>
            <a:pPr marL="0" indent="0">
              <a:buNone/>
            </a:pPr>
            <a:endParaRPr lang="en-US" sz="1100" dirty="0"/>
          </a:p>
          <a:p>
            <a:pPr marL="0" indent="0">
              <a:buNone/>
            </a:pPr>
            <a:r>
              <a:rPr lang="en-US" sz="1100" dirty="0">
                <a:solidFill>
                  <a:srgbClr val="F3DDE3"/>
                </a:solidFill>
                <a:latin typeface="Calibri" pitchFamily="34" charset="0"/>
                <a:ea typeface="Calibri" pitchFamily="34" charset="-122"/>
                <a:cs typeface="Calibri" pitchFamily="34" charset="-120"/>
              </a:rPr>
              <a:t>For model steps, edges record what was retrieved or declared — not what influenced the output. A declared parent list is not even a reliable upper bound; it can be an incomplete subset.</a:t>
            </a:r>
            <a:endParaRPr lang="en-US" sz="1100" dirty="0"/>
          </a:p>
        </p:txBody>
      </p:sp>
      <p:sp>
        <p:nvSpPr>
          <p:cNvPr id="19" name="Shape 17"/>
          <p:cNvSpPr/>
          <p:nvPr/>
        </p:nvSpPr>
        <p:spPr>
          <a:xfrm>
            <a:off x="6784848" y="3749040"/>
            <a:ext cx="4828032" cy="1874520"/>
          </a:xfrm>
          <a:prstGeom prst="roundRect">
            <a:avLst>
              <a:gd name="adj" fmla="val 2927"/>
            </a:avLst>
          </a:prstGeom>
          <a:solidFill>
            <a:srgbClr val="24486A"/>
          </a:solidFill>
          <a:ln w="15875">
            <a:solidFill>
              <a:srgbClr val="C2700A"/>
            </a:solidFill>
            <a:prstDash val="solid"/>
          </a:ln>
        </p:spPr>
      </p:sp>
      <p:sp>
        <p:nvSpPr>
          <p:cNvPr id="20" name="Text 18"/>
          <p:cNvSpPr/>
          <p:nvPr/>
        </p:nvSpPr>
        <p:spPr>
          <a:xfrm>
            <a:off x="7022592" y="3913632"/>
            <a:ext cx="4389120" cy="274320"/>
          </a:xfrm>
          <a:prstGeom prst="rect">
            <a:avLst/>
          </a:prstGeom>
          <a:noFill/>
          <a:ln/>
        </p:spPr>
        <p:txBody>
          <a:bodyPr wrap="square" lIns="0" tIns="0" rIns="0" bIns="0" rtlCol="0" anchor="ctr"/>
          <a:lstStyle/>
          <a:p>
            <a:pPr marL="0" indent="0">
              <a:buNone/>
            </a:pPr>
            <a:r>
              <a:rPr lang="en-US" sz="1300" b="1" dirty="0">
                <a:solidFill>
                  <a:srgbClr val="C2700A"/>
                </a:solidFill>
                <a:latin typeface="Calibri" pitchFamily="34" charset="0"/>
                <a:ea typeface="Calibri" pitchFamily="34" charset="-122"/>
                <a:cs typeface="Calibri" pitchFamily="34" charset="-120"/>
              </a:rPr>
              <a:t>Where to start on Monday</a:t>
            </a:r>
            <a:endParaRPr lang="en-US" sz="1300" dirty="0"/>
          </a:p>
        </p:txBody>
      </p:sp>
      <p:sp>
        <p:nvSpPr>
          <p:cNvPr id="21" name="Text 19"/>
          <p:cNvSpPr/>
          <p:nvPr/>
        </p:nvSpPr>
        <p:spPr>
          <a:xfrm>
            <a:off x="7022592" y="4242816"/>
            <a:ext cx="4389120" cy="1298448"/>
          </a:xfrm>
          <a:prstGeom prst="rect">
            <a:avLst/>
          </a:prstGeom>
          <a:noFill/>
          <a:ln/>
        </p:spPr>
        <p:txBody>
          <a:bodyPr wrap="square" lIns="0" tIns="0" rIns="0" bIns="0" rtlCol="0" anchor="t"/>
          <a:lstStyle/>
          <a:p>
            <a:pPr marL="0" indent="0">
              <a:buNone/>
            </a:pPr>
            <a:r>
              <a:rPr lang="en-US" sz="1100" dirty="0">
                <a:solidFill>
                  <a:srgbClr val="CADCFC"/>
                </a:solidFill>
                <a:latin typeface="Calibri" pitchFamily="34" charset="0"/>
                <a:ea typeface="Calibri" pitchFamily="34" charset="-122"/>
                <a:cs typeface="Calibri" pitchFamily="34" charset="-120"/>
              </a:rPr>
              <a:t>Stable source IDs  ·  precise locators  ·  a node for every tool call  ·  an explicit claim object with declared parents</a:t>
            </a:r>
            <a:endParaRPr lang="en-US" sz="1100" dirty="0"/>
          </a:p>
          <a:p>
            <a:pPr marL="0" indent="0">
              <a:buNone/>
            </a:pP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…and just two queries: finding → source, and source → affected findings. Everything else extends that.</a:t>
            </a:r>
            <a:endParaRPr lang="en-US" sz="1100" dirty="0"/>
          </a:p>
        </p:txBody>
      </p:sp>
      <p:sp>
        <p:nvSpPr>
          <p:cNvPr id="22" name="Text 20"/>
          <p:cNvSpPr/>
          <p:nvPr/>
        </p:nvSpPr>
        <p:spPr>
          <a:xfrm>
            <a:off x="566928" y="5943600"/>
            <a:ext cx="11064240" cy="365760"/>
          </a:xfrm>
          <a:prstGeom prst="rect">
            <a:avLst/>
          </a:prstGeom>
          <a:noFill/>
          <a:ln/>
        </p:spPr>
        <p:txBody>
          <a:bodyPr wrap="square" lIns="0" tIns="0" rIns="0" bIns="0" rtlCol="0" anchor="ctr"/>
          <a:lstStyle/>
          <a:p>
            <a:pPr marL="0" indent="0">
              <a:buNone/>
            </a:pPr>
            <a:r>
              <a:rPr lang="en-US" sz="1300" i="1" dirty="0">
                <a:solidFill>
                  <a:srgbClr val="8FB4CC"/>
                </a:solidFill>
                <a:latin typeface="Calibri" pitchFamily="34" charset="0"/>
                <a:ea typeface="Calibri" pitchFamily="34" charset="-122"/>
                <a:cs typeface="Calibri" pitchFamily="34" charset="-120"/>
              </a:rPr>
              <a:t>Not only “Can the agent do the work?” — but also “Can another person inspect exactly how it got there?”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marL="0" indent="0">
              <a:buNone/>
            </a:pPr>
            <a:r>
              <a:rPr lang="en-US" sz="1100" b="1" kern="0" spc="160" dirty="0">
                <a:solidFill>
                  <a:srgbClr val="C2700A"/>
                </a:solidFill>
                <a:latin typeface="Calibri" pitchFamily="34" charset="0"/>
                <a:ea typeface="Calibri" pitchFamily="34" charset="-122"/>
                <a:cs typeface="Calibri" pitchFamily="34" charset="-120"/>
              </a:rPr>
              <a:t>FURTHER READING</a:t>
            </a:r>
            <a:endParaRPr lang="en-US" sz="1100" dirty="0"/>
          </a:p>
        </p:txBody>
      </p:sp>
      <p:sp>
        <p:nvSpPr>
          <p:cNvPr id="3" name="Text 1"/>
          <p:cNvSpPr/>
          <p:nvPr/>
        </p:nvSpPr>
        <p:spPr>
          <a:xfrm>
            <a:off x="548640" y="658368"/>
            <a:ext cx="10607040" cy="640080"/>
          </a:xfrm>
          <a:prstGeom prst="rect">
            <a:avLst/>
          </a:prstGeom>
          <a:noFill/>
          <a:ln/>
        </p:spPr>
        <p:txBody>
          <a:bodyPr wrap="square" lIns="0" tIns="0" rIns="0" bIns="0" rtlCol="0" anchor="ctr"/>
          <a:lstStyle/>
          <a:p>
            <a:pPr marL="0" indent="0">
              <a:buNone/>
            </a:pPr>
            <a:r>
              <a:rPr lang="en-US" sz="3200" b="1" dirty="0">
                <a:solidFill>
                  <a:srgbClr val="17324D"/>
                </a:solidFill>
                <a:latin typeface="Cambria" pitchFamily="34" charset="0"/>
                <a:ea typeface="Cambria" pitchFamily="34" charset="-122"/>
                <a:cs typeface="Cambria" pitchFamily="34" charset="-120"/>
              </a:rPr>
              <a:t>Sources</a:t>
            </a:r>
            <a:endParaRPr lang="en-US" sz="3600" dirty="0"/>
          </a:p>
        </p:txBody>
      </p:sp>
      <p:sp>
        <p:nvSpPr>
          <p:cNvPr id="4" name="Shape 2"/>
          <p:cNvSpPr/>
          <p:nvPr/>
        </p:nvSpPr>
        <p:spPr>
          <a:xfrm>
            <a:off x="603504" y="1837944"/>
            <a:ext cx="182880" cy="182880"/>
          </a:xfrm>
          <a:prstGeom prst="ellipse">
            <a:avLst/>
          </a:prstGeom>
          <a:solidFill>
            <a:srgbClr val="0E7C86"/>
          </a:solidFill>
          <a:ln w="12700">
            <a:solidFill>
              <a:srgbClr val="0E7C86"/>
            </a:solidFill>
            <a:prstDash val="solid"/>
          </a:ln>
        </p:spPr>
      </p:sp>
      <p:sp>
        <p:nvSpPr>
          <p:cNvPr id="5" name="Text 3"/>
          <p:cNvSpPr/>
          <p:nvPr/>
        </p:nvSpPr>
        <p:spPr>
          <a:xfrm>
            <a:off x="932688" y="1691640"/>
            <a:ext cx="10607040" cy="384048"/>
          </a:xfrm>
          <a:prstGeom prst="rect">
            <a:avLst/>
          </a:prstGeom>
          <a:noFill/>
          <a:ln/>
        </p:spPr>
        <p:txBody>
          <a:bodyPr wrap="square" lIns="0" tIns="0" rIns="0" bIns="0" rtlCol="0" anchor="t"/>
          <a:lstStyle/>
          <a:p>
            <a:pPr marL="0" indent="0">
              <a:buNone/>
            </a:pPr>
            <a:r>
              <a:rPr lang="en-US" sz="1400" b="1" dirty="0">
                <a:solidFill>
                  <a:srgbClr val="17324D"/>
                </a:solidFill>
                <a:latin typeface="Calibri" pitchFamily="34" charset="0"/>
                <a:ea typeface="Calibri" pitchFamily="34" charset="-122"/>
                <a:cs typeface="Calibri" pitchFamily="34" charset="-120"/>
              </a:rPr>
              <a:t>From Agent Traces to Trust: A Survey of Evidence Tracing and Execution Provenance in LLM Agents</a:t>
            </a:r>
            <a:endParaRPr lang="en-US" sz="1400" dirty="0"/>
          </a:p>
        </p:txBody>
      </p:sp>
      <p:sp>
        <p:nvSpPr>
          <p:cNvPr id="6" name="Text 4"/>
          <p:cNvSpPr/>
          <p:nvPr/>
        </p:nvSpPr>
        <p:spPr>
          <a:xfrm>
            <a:off x="932688" y="2075688"/>
            <a:ext cx="10607040" cy="310896"/>
          </a:xfrm>
          <a:prstGeom prst="rect">
            <a:avLst/>
          </a:prstGeom>
          <a:noFill/>
          <a:ln/>
        </p:spPr>
        <p:txBody>
          <a:bodyPr wrap="square" lIns="0" tIns="0" rIns="0" bIns="0" rtlCol="0" anchor="t"/>
          <a:lstStyle/>
          <a:p>
            <a:pPr marL="0" indent="0">
              <a:buNone/>
            </a:pPr>
            <a:r>
              <a:rPr lang="en-US" sz="1100" dirty="0">
                <a:solidFill>
                  <a:srgbClr val="5A6B7A"/>
                </a:solidFill>
                <a:latin typeface="Calibri" pitchFamily="34" charset="0"/>
                <a:ea typeface="Calibri" pitchFamily="34" charset="-122"/>
                <a:cs typeface="Calibri" pitchFamily="34" charset="-120"/>
              </a:rPr>
              <a:t>Wang, Y. et al. · arXiv:2606.04990 · posted 3 June 2026, revised v4 28 June 2026</a:t>
            </a:r>
            <a:endParaRPr lang="en-US" sz="1100" dirty="0"/>
          </a:p>
        </p:txBody>
      </p:sp>
      <p:sp>
        <p:nvSpPr>
          <p:cNvPr id="7" name="Shape 5"/>
          <p:cNvSpPr/>
          <p:nvPr/>
        </p:nvSpPr>
        <p:spPr>
          <a:xfrm>
            <a:off x="603504" y="2862072"/>
            <a:ext cx="182880" cy="182880"/>
          </a:xfrm>
          <a:prstGeom prst="ellipse">
            <a:avLst/>
          </a:prstGeom>
          <a:solidFill>
            <a:srgbClr val="0E7C86"/>
          </a:solidFill>
          <a:ln w="12700">
            <a:solidFill>
              <a:srgbClr val="0E7C86"/>
            </a:solidFill>
            <a:prstDash val="solid"/>
          </a:ln>
        </p:spPr>
      </p:sp>
      <p:sp>
        <p:nvSpPr>
          <p:cNvPr id="8" name="Text 6"/>
          <p:cNvSpPr/>
          <p:nvPr/>
        </p:nvSpPr>
        <p:spPr>
          <a:xfrm>
            <a:off x="932688" y="2715768"/>
            <a:ext cx="10607040" cy="384048"/>
          </a:xfrm>
          <a:prstGeom prst="rect">
            <a:avLst/>
          </a:prstGeom>
          <a:noFill/>
          <a:ln/>
        </p:spPr>
        <p:txBody>
          <a:bodyPr wrap="square" lIns="0" tIns="0" rIns="0" bIns="0" rtlCol="0" anchor="t"/>
          <a:lstStyle/>
          <a:p>
            <a:pPr marL="0" indent="0">
              <a:buNone/>
            </a:pPr>
            <a:r>
              <a:rPr lang="en-US" sz="1400" b="1" dirty="0">
                <a:solidFill>
                  <a:srgbClr val="17324D"/>
                </a:solidFill>
                <a:latin typeface="Calibri" pitchFamily="34" charset="0"/>
                <a:ea typeface="Calibri" pitchFamily="34" charset="-122"/>
                <a:cs typeface="Calibri" pitchFamily="34" charset="-120"/>
              </a:rPr>
              <a:t>Graph of Trace: Visualizing Execution Traces of Scientific Agent</a:t>
            </a:r>
            <a:endParaRPr lang="en-US" sz="1400" dirty="0"/>
          </a:p>
        </p:txBody>
      </p:sp>
      <p:sp>
        <p:nvSpPr>
          <p:cNvPr id="9" name="Text 7"/>
          <p:cNvSpPr/>
          <p:nvPr/>
        </p:nvSpPr>
        <p:spPr>
          <a:xfrm>
            <a:off x="932688" y="3099816"/>
            <a:ext cx="10607040" cy="310896"/>
          </a:xfrm>
          <a:prstGeom prst="rect">
            <a:avLst/>
          </a:prstGeom>
          <a:noFill/>
          <a:ln/>
        </p:spPr>
        <p:txBody>
          <a:bodyPr wrap="square" lIns="0" tIns="0" rIns="0" bIns="0" rtlCol="0" anchor="t"/>
          <a:lstStyle/>
          <a:p>
            <a:pPr marL="0" indent="0">
              <a:buNone/>
            </a:pPr>
            <a:r>
              <a:rPr lang="en-US" sz="1100" dirty="0">
                <a:solidFill>
                  <a:srgbClr val="5A6B7A"/>
                </a:solidFill>
                <a:latin typeface="Calibri" pitchFamily="34" charset="0"/>
                <a:ea typeface="Calibri" pitchFamily="34" charset="-122"/>
                <a:cs typeface="Calibri" pitchFamily="34" charset="-120"/>
              </a:rPr>
              <a:t>Gao, T. et al. · arXiv:2606.15116 · posted 13 June 2026 · ACL 2026 system demo version titles it “Agents”</a:t>
            </a:r>
            <a:endParaRPr lang="en-US" sz="1100" dirty="0"/>
          </a:p>
        </p:txBody>
      </p:sp>
      <p:sp>
        <p:nvSpPr>
          <p:cNvPr id="10" name="Shape 8"/>
          <p:cNvSpPr/>
          <p:nvPr/>
        </p:nvSpPr>
        <p:spPr>
          <a:xfrm>
            <a:off x="603504" y="3886200"/>
            <a:ext cx="182880" cy="182880"/>
          </a:xfrm>
          <a:prstGeom prst="ellipse">
            <a:avLst/>
          </a:prstGeom>
          <a:solidFill>
            <a:srgbClr val="0E7C86"/>
          </a:solidFill>
          <a:ln w="12700">
            <a:solidFill>
              <a:srgbClr val="0E7C86"/>
            </a:solidFill>
            <a:prstDash val="solid"/>
          </a:ln>
        </p:spPr>
      </p:sp>
      <p:sp>
        <p:nvSpPr>
          <p:cNvPr id="11" name="Text 9"/>
          <p:cNvSpPr/>
          <p:nvPr/>
        </p:nvSpPr>
        <p:spPr>
          <a:xfrm>
            <a:off x="932688" y="3739896"/>
            <a:ext cx="10607040" cy="384048"/>
          </a:xfrm>
          <a:prstGeom prst="rect">
            <a:avLst/>
          </a:prstGeom>
          <a:noFill/>
          <a:ln/>
        </p:spPr>
        <p:txBody>
          <a:bodyPr wrap="square" lIns="0" tIns="0" rIns="0" bIns="0" rtlCol="0" anchor="t"/>
          <a:lstStyle/>
          <a:p>
            <a:pPr marL="0" indent="0">
              <a:buNone/>
            </a:pPr>
            <a:r>
              <a:rPr lang="en-US" sz="1400" b="1" dirty="0">
                <a:solidFill>
                  <a:srgbClr val="17324D"/>
                </a:solidFill>
                <a:latin typeface="Calibri" pitchFamily="34" charset="0"/>
                <a:ea typeface="Calibri" pitchFamily="34" charset="-122"/>
                <a:cs typeface="Calibri" pitchFamily="34" charset="-120"/>
              </a:rPr>
              <a:t>MAP-Graph: Provenance-Aware Shared Memory for Multi-Agent Workflows</a:t>
            </a:r>
            <a:endParaRPr lang="en-US" sz="1400" dirty="0"/>
          </a:p>
        </p:txBody>
      </p:sp>
      <p:sp>
        <p:nvSpPr>
          <p:cNvPr id="12" name="Text 10"/>
          <p:cNvSpPr/>
          <p:nvPr/>
        </p:nvSpPr>
        <p:spPr>
          <a:xfrm>
            <a:off x="932688" y="4123944"/>
            <a:ext cx="10607040" cy="310896"/>
          </a:xfrm>
          <a:prstGeom prst="rect">
            <a:avLst/>
          </a:prstGeom>
          <a:noFill/>
          <a:ln/>
        </p:spPr>
        <p:txBody>
          <a:bodyPr wrap="square" lIns="0" tIns="0" rIns="0" bIns="0" rtlCol="0" anchor="t"/>
          <a:lstStyle/>
          <a:p>
            <a:pPr marL="0" indent="0">
              <a:buNone/>
            </a:pPr>
            <a:r>
              <a:rPr lang="en-US" sz="1100" dirty="0">
                <a:solidFill>
                  <a:srgbClr val="5A6B7A"/>
                </a:solidFill>
                <a:latin typeface="Calibri" pitchFamily="34" charset="0"/>
                <a:ea typeface="Calibri" pitchFamily="34" charset="-122"/>
                <a:cs typeface="Calibri" pitchFamily="34" charset="-120"/>
              </a:rPr>
              <a:t>Wang, Y. et al. · arXiv:2608.10509 · posted 11 August 2026 · results from a controlled synthetic benchmark</a:t>
            </a:r>
            <a:endParaRPr lang="en-US" sz="1100" dirty="0"/>
          </a:p>
        </p:txBody>
      </p:sp>
      <p:sp>
        <p:nvSpPr>
          <p:cNvPr id="13" name="Text 11"/>
          <p:cNvSpPr/>
          <p:nvPr/>
        </p:nvSpPr>
        <p:spPr>
          <a:xfrm>
            <a:off x="932688" y="4828032"/>
            <a:ext cx="10607040" cy="274320"/>
          </a:xfrm>
          <a:prstGeom prst="rect">
            <a:avLst/>
          </a:prstGeom>
          <a:noFill/>
          <a:ln/>
        </p:spPr>
        <p:txBody>
          <a:bodyPr wrap="square" lIns="0" tIns="0" rIns="0" bIns="0" rtlCol="0" anchor="ctr"/>
          <a:lstStyle/>
          <a:p>
            <a:pPr marL="0" indent="0">
              <a:buNone/>
            </a:pPr>
            <a:r>
              <a:rPr lang="en-US" sz="1200" b="1" i="1" dirty="0">
                <a:solidFill>
                  <a:srgbClr val="7A2E3C"/>
                </a:solidFill>
                <a:latin typeface="Calibri" pitchFamily="34" charset="0"/>
                <a:ea typeface="Calibri" pitchFamily="34" charset="-122"/>
                <a:cs typeface="Calibri" pitchFamily="34" charset="-120"/>
              </a:rPr>
              <a:t>All three are preprints — direction of travel, not settled practice.</a:t>
            </a:r>
            <a:endParaRPr lang="en-US" sz="1200" dirty="0"/>
          </a:p>
        </p:txBody>
      </p:sp>
      <p:sp>
        <p:nvSpPr>
          <p:cNvPr id="14" name="Shape 12"/>
          <p:cNvSpPr/>
          <p:nvPr/>
        </p:nvSpPr>
        <p:spPr>
          <a:xfrm>
            <a:off x="548640" y="5285232"/>
            <a:ext cx="5486400" cy="1188720"/>
          </a:xfrm>
          <a:prstGeom prst="roundRect">
            <a:avLst>
              <a:gd name="adj" fmla="val 4615"/>
            </a:avLst>
          </a:prstGeom>
          <a:solidFill>
            <a:srgbClr val="EEF4F7"/>
          </a:solidFill>
          <a:ln w="12700">
            <a:solidFill>
              <a:srgbClr val="C3D2DC"/>
            </a:solidFill>
            <a:prstDash val="solid"/>
          </a:ln>
        </p:spPr>
      </p:sp>
      <p:sp>
        <p:nvSpPr>
          <p:cNvPr id="15" name="Text 13"/>
          <p:cNvSpPr/>
          <p:nvPr/>
        </p:nvSpPr>
        <p:spPr>
          <a:xfrm>
            <a:off x="749808" y="5431536"/>
            <a:ext cx="5084064" cy="256032"/>
          </a:xfrm>
          <a:prstGeom prst="rect">
            <a:avLst/>
          </a:prstGeom>
          <a:noFill/>
          <a:ln/>
        </p:spPr>
        <p:txBody>
          <a:bodyPr wrap="square" lIns="0" tIns="0" rIns="0" bIns="0" rtlCol="0" anchor="ctr"/>
          <a:lstStyle/>
          <a:p>
            <a:pPr marL="0" indent="0">
              <a:buNone/>
            </a:pPr>
            <a:r>
              <a:rPr lang="en-US" sz="1600" b="1" dirty="0">
                <a:solidFill>
                  <a:srgbClr val="17324D"/>
                </a:solidFill>
                <a:latin typeface="Calibri" pitchFamily="34" charset="0"/>
                <a:ea typeface="Calibri" pitchFamily="34" charset="-122"/>
                <a:cs typeface="Calibri" pitchFamily="34" charset="-120"/>
              </a:rPr>
              <a:t>PCAOB AS 1105 — Audit Evidence</a:t>
            </a:r>
            <a:endParaRPr lang="en-US" sz="1600" dirty="0"/>
          </a:p>
        </p:txBody>
      </p:sp>
      <p:sp>
        <p:nvSpPr>
          <p:cNvPr id="16" name="Text 14"/>
          <p:cNvSpPr/>
          <p:nvPr/>
        </p:nvSpPr>
        <p:spPr>
          <a:xfrm>
            <a:off x="749808" y="5742432"/>
            <a:ext cx="5084064" cy="585216"/>
          </a:xfrm>
          <a:prstGeom prst="rect">
            <a:avLst/>
          </a:prstGeom>
          <a:noFill/>
          <a:ln/>
        </p:spPr>
        <p:txBody>
          <a:bodyPr wrap="square" lIns="0" tIns="0" rIns="0" bIns="0" rtlCol="0" anchor="t"/>
          <a:lstStyle/>
          <a:p>
            <a:pPr marL="0" indent="0">
              <a:buNone/>
            </a:pPr>
            <a:r>
              <a:rPr lang="en-US" sz="1200" dirty="0">
                <a:solidFill>
                  <a:srgbClr val="1C2733"/>
                </a:solidFill>
                <a:latin typeface="Calibri" pitchFamily="34" charset="0"/>
                <a:ea typeface="Calibri" pitchFamily="34" charset="-122"/>
                <a:cs typeface="Calibri" pitchFamily="34" charset="-120"/>
              </a:rPr>
              <a:t>Paragraph .10A: reliability of external electronic information provided by the company.</a:t>
            </a:r>
            <a:endParaRPr lang="en-US" sz="1200" dirty="0"/>
          </a:p>
        </p:txBody>
      </p:sp>
      <p:sp>
        <p:nvSpPr>
          <p:cNvPr id="17" name="Shape 15"/>
          <p:cNvSpPr/>
          <p:nvPr/>
        </p:nvSpPr>
        <p:spPr>
          <a:xfrm>
            <a:off x="6126480" y="5285232"/>
            <a:ext cx="5486400" cy="1188720"/>
          </a:xfrm>
          <a:prstGeom prst="roundRect">
            <a:avLst>
              <a:gd name="adj" fmla="val 4615"/>
            </a:avLst>
          </a:prstGeom>
          <a:solidFill>
            <a:srgbClr val="EEF4F7"/>
          </a:solidFill>
          <a:ln w="12700">
            <a:solidFill>
              <a:srgbClr val="C3D2DC"/>
            </a:solidFill>
            <a:prstDash val="solid"/>
          </a:ln>
        </p:spPr>
      </p:sp>
      <p:sp>
        <p:nvSpPr>
          <p:cNvPr id="18" name="Text 16"/>
          <p:cNvSpPr/>
          <p:nvPr/>
        </p:nvSpPr>
        <p:spPr>
          <a:xfrm>
            <a:off x="6327648" y="5431536"/>
            <a:ext cx="5084064" cy="256032"/>
          </a:xfrm>
          <a:prstGeom prst="rect">
            <a:avLst/>
          </a:prstGeom>
          <a:noFill/>
          <a:ln/>
        </p:spPr>
        <p:txBody>
          <a:bodyPr wrap="square" lIns="0" tIns="0" rIns="0" bIns="0" rtlCol="0" anchor="ctr"/>
          <a:lstStyle/>
          <a:p>
            <a:pPr marL="0" indent="0">
              <a:buNone/>
            </a:pPr>
            <a:r>
              <a:rPr lang="en-US" sz="1600" b="1" dirty="0">
                <a:solidFill>
                  <a:srgbClr val="17324D"/>
                </a:solidFill>
                <a:latin typeface="Calibri" pitchFamily="34" charset="0"/>
                <a:ea typeface="Calibri" pitchFamily="34" charset="-122"/>
                <a:cs typeface="Calibri" pitchFamily="34" charset="-120"/>
              </a:rPr>
              <a:t>PCAOB AS 1215 — Audit Documentation</a:t>
            </a:r>
            <a:endParaRPr lang="en-US" sz="1600" dirty="0"/>
          </a:p>
        </p:txBody>
      </p:sp>
      <p:sp>
        <p:nvSpPr>
          <p:cNvPr id="19" name="Text 17"/>
          <p:cNvSpPr/>
          <p:nvPr/>
        </p:nvSpPr>
        <p:spPr>
          <a:xfrm>
            <a:off x="6327648" y="5742432"/>
            <a:ext cx="5084064" cy="585216"/>
          </a:xfrm>
          <a:prstGeom prst="rect">
            <a:avLst/>
          </a:prstGeom>
          <a:noFill/>
          <a:ln/>
        </p:spPr>
        <p:txBody>
          <a:bodyPr wrap="square" lIns="0" tIns="0" rIns="0" bIns="0" rtlCol="0" anchor="t"/>
          <a:lstStyle/>
          <a:p>
            <a:pPr marL="0" indent="0">
              <a:buNone/>
            </a:pPr>
            <a:r>
              <a:rPr lang="en-US" sz="1200" dirty="0">
                <a:solidFill>
                  <a:srgbClr val="1C2733"/>
                </a:solidFill>
                <a:latin typeface="Calibri" pitchFamily="34" charset="0"/>
                <a:ea typeface="Calibri" pitchFamily="34" charset="-122"/>
                <a:cs typeface="Calibri" pitchFamily="34" charset="-120"/>
              </a:rPr>
              <a:t>14-day assembly window (¶.15) already effective. Amendments to ¶.09 and ¶.11 effective 15 Dec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1890</Words>
  <Application>Microsoft Macintosh PowerPoint</Application>
  <PresentationFormat>Widescreen</PresentationFormat>
  <Paragraphs>201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Execution provenance graphs for AI agents</dc:title>
  <dc:subject>PptxGenJS Presentation</dc:subject>
  <dc:creator>Weekly AI Skills Sharing</dc:creator>
  <cp:lastModifiedBy>albert einstein</cp:lastModifiedBy>
  <cp:revision>2</cp:revision>
  <dcterms:created xsi:type="dcterms:W3CDTF">2026-08-18T06:28:27Z</dcterms:created>
  <dcterms:modified xsi:type="dcterms:W3CDTF">2026-08-18T06:33:40Z</dcterms:modified>
</cp:coreProperties>
</file>